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423" r:id="rId3"/>
    <p:sldId id="513" r:id="rId4"/>
    <p:sldId id="514" r:id="rId5"/>
    <p:sldId id="515" r:id="rId6"/>
    <p:sldId id="516" r:id="rId7"/>
    <p:sldId id="517" r:id="rId8"/>
    <p:sldId id="518" r:id="rId9"/>
    <p:sldId id="521" r:id="rId10"/>
    <p:sldId id="522" r:id="rId11"/>
    <p:sldId id="523" r:id="rId12"/>
    <p:sldId id="530" r:id="rId13"/>
    <p:sldId id="525" r:id="rId14"/>
    <p:sldId id="526" r:id="rId15"/>
    <p:sldId id="527" r:id="rId16"/>
    <p:sldId id="528" r:id="rId17"/>
    <p:sldId id="529" r:id="rId18"/>
    <p:sldId id="524" r:id="rId19"/>
    <p:sldId id="531" r:id="rId20"/>
    <p:sldId id="532" r:id="rId21"/>
    <p:sldId id="533" r:id="rId22"/>
  </p:sldIdLst>
  <p:sldSz cx="9144000" cy="5143500" type="screen16x9"/>
  <p:notesSz cx="6858000" cy="9144000"/>
  <p:embeddedFontLst>
    <p:embeddedFont>
      <p:font typeface="Open Sans" panose="020B0606030504020204" charset="0"/>
      <p:regular r:id="rId29"/>
      <p:bold r:id="rId30"/>
    </p:embeddedFont>
    <p:embeddedFont>
      <p:font typeface="Cinzel" panose="00000500000000000000" charset="0"/>
      <p:regular r:id="rId31"/>
    </p:embeddedFont>
  </p:embeddedFontLst>
  <p:custDataLst>
    <p:tags r:id="rId3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74" userDrawn="1">
          <p15:clr>
            <a:srgbClr val="A4A3A4"/>
          </p15:clr>
        </p15:guide>
        <p15:guide id="2" orient="horz" pos="2708" userDrawn="1">
          <p15:clr>
            <a:srgbClr val="A4A3A4"/>
          </p15:clr>
        </p15:guide>
        <p15:guide id="3" pos="2816" userDrawn="1">
          <p15:clr>
            <a:srgbClr val="A4A3A4"/>
          </p15:clr>
        </p15:guide>
        <p15:guide id="4" orient="horz" pos="109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哒哒 熊猫" initials="哒哒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8555"/>
    <a:srgbClr val="CEB69A"/>
    <a:srgbClr val="FBB885"/>
    <a:srgbClr val="89C5BE"/>
    <a:srgbClr val="FDDABF"/>
    <a:srgbClr val="CEE7E4"/>
    <a:srgbClr val="FFFEF9"/>
    <a:srgbClr val="B0D8D3"/>
    <a:srgbClr val="DEEFED"/>
    <a:srgbClr val="FDE9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14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317" y="82"/>
      </p:cViewPr>
      <p:guideLst>
        <p:guide orient="horz" pos="2774"/>
        <p:guide orient="horz" pos="2708"/>
        <p:guide pos="2816"/>
        <p:guide orient="horz" pos="109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923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gs" Target="tags/tag1.xml"/><Relationship Id="rId31" Type="http://schemas.openxmlformats.org/officeDocument/2006/relationships/font" Target="fonts/font3.fntdata"/><Relationship Id="rId30" Type="http://schemas.openxmlformats.org/officeDocument/2006/relationships/font" Target="fonts/font2.fntdata"/><Relationship Id="rId3" Type="http://schemas.openxmlformats.org/officeDocument/2006/relationships/slide" Target="slides/slide1.xml"/><Relationship Id="rId29" Type="http://schemas.openxmlformats.org/officeDocument/2006/relationships/font" Target="fonts/font1.fntdata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9C52E3-5160-4105-9DEC-6617FF6BA5B1}" type="datetimeFigureOut">
              <a:rPr lang="zh-CN" altLang="en-US" smtClean="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rPr>
            </a:fld>
            <a:endParaRPr lang="zh-CN" altLang="en-US"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A82E6B-6079-4FBD-944C-D58E234235D6}" type="slidenum">
              <a:rPr lang="zh-CN" altLang="en-US" smtClean="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rPr>
            </a:fld>
            <a:endParaRPr lang="zh-CN" altLang="en-US"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Open Sans" panose="020B060603050402020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Open Sans" panose="020B060603050402020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Open Sans" panose="020B060603050402020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Open Sans" panose="020B060603050402020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Open Sans" panose="020B060603050402020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50" t="15985" r="26933" b="3319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020" r="72852" b="479"/>
          <a:stretch>
            <a:fillRect/>
          </a:stretch>
        </p:blipFill>
        <p:spPr>
          <a:xfrm>
            <a:off x="1" y="0"/>
            <a:ext cx="1981200" cy="1568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020" r="72852" b="479"/>
          <a:stretch>
            <a:fillRect/>
          </a:stretch>
        </p:blipFill>
        <p:spPr>
          <a:xfrm>
            <a:off x="1" y="0"/>
            <a:ext cx="1981200" cy="1568824"/>
          </a:xfrm>
          <a:prstGeom prst="rect">
            <a:avLst/>
          </a:prstGeom>
        </p:spPr>
      </p:pic>
      <p:sp>
        <p:nvSpPr>
          <p:cNvPr id="3" name="图片占位符 4"/>
          <p:cNvSpPr>
            <a:spLocks noGrp="1"/>
          </p:cNvSpPr>
          <p:nvPr>
            <p:ph type="pic" sz="quarter" idx="10"/>
          </p:nvPr>
        </p:nvSpPr>
        <p:spPr>
          <a:xfrm>
            <a:off x="0" y="1241319"/>
            <a:ext cx="2203097" cy="228319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2303830" y="1240970"/>
            <a:ext cx="2217804" cy="2276669"/>
          </a:xfrm>
          <a:prstGeom prst="rect">
            <a:avLst/>
          </a:prstGeom>
          <a:solidFill>
            <a:srgbClr val="FBB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6" name="图片占位符 4"/>
          <p:cNvSpPr>
            <a:spLocks noGrp="1"/>
          </p:cNvSpPr>
          <p:nvPr>
            <p:ph type="pic" sz="quarter" idx="11"/>
          </p:nvPr>
        </p:nvSpPr>
        <p:spPr>
          <a:xfrm>
            <a:off x="4622367" y="1241319"/>
            <a:ext cx="2203097" cy="228319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6926196" y="1240970"/>
            <a:ext cx="2217804" cy="2276669"/>
          </a:xfrm>
          <a:prstGeom prst="rect">
            <a:avLst/>
          </a:prstGeom>
          <a:solidFill>
            <a:srgbClr val="89C5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00025" y="250420"/>
            <a:ext cx="8743950" cy="4642661"/>
          </a:xfrm>
          <a:prstGeom prst="rect">
            <a:avLst/>
          </a:prstGeom>
          <a:solidFill>
            <a:srgbClr val="EFEE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267705" y="1392718"/>
            <a:ext cx="4262437" cy="147637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4597166" y="1392572"/>
            <a:ext cx="4177717" cy="1510019"/>
          </a:xfrm>
          <a:prstGeom prst="rect">
            <a:avLst/>
          </a:prstGeom>
          <a:solidFill>
            <a:srgbClr val="A47D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00025" y="250420"/>
            <a:ext cx="8743950" cy="4642661"/>
          </a:xfrm>
          <a:prstGeom prst="rect">
            <a:avLst/>
          </a:prstGeom>
          <a:solidFill>
            <a:srgbClr val="EFEE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4" name="矩形: 圆角 3"/>
          <p:cNvSpPr/>
          <p:nvPr userDrawn="1"/>
        </p:nvSpPr>
        <p:spPr>
          <a:xfrm>
            <a:off x="711924" y="1574074"/>
            <a:ext cx="2005149" cy="2592978"/>
          </a:xfrm>
          <a:prstGeom prst="roundRect">
            <a:avLst>
              <a:gd name="adj" fmla="val 9501"/>
            </a:avLst>
          </a:prstGeom>
          <a:solidFill>
            <a:srgbClr val="A47D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819352" y="1723661"/>
            <a:ext cx="1790292" cy="941161"/>
          </a:xfrm>
          <a:prstGeom prst="roundRect">
            <a:avLst>
              <a:gd name="adj" fmla="val 15279"/>
            </a:avLst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椭圆 5"/>
          <p:cNvSpPr/>
          <p:nvPr userDrawn="1"/>
        </p:nvSpPr>
        <p:spPr>
          <a:xfrm>
            <a:off x="1417319" y="3814355"/>
            <a:ext cx="574765" cy="574765"/>
          </a:xfrm>
          <a:prstGeom prst="ellipse">
            <a:avLst/>
          </a:prstGeom>
          <a:solidFill>
            <a:srgbClr val="A47D69"/>
          </a:solidFill>
          <a:ln w="38100">
            <a:solidFill>
              <a:srgbClr val="EFEE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7" name="矩形: 圆角 6"/>
          <p:cNvSpPr/>
          <p:nvPr userDrawn="1"/>
        </p:nvSpPr>
        <p:spPr>
          <a:xfrm>
            <a:off x="3579221" y="1574074"/>
            <a:ext cx="2005149" cy="2592978"/>
          </a:xfrm>
          <a:prstGeom prst="roundRect">
            <a:avLst>
              <a:gd name="adj" fmla="val 9501"/>
            </a:avLst>
          </a:prstGeom>
          <a:solidFill>
            <a:srgbClr val="A47D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8" name="图片占位符 4"/>
          <p:cNvSpPr>
            <a:spLocks noGrp="1"/>
          </p:cNvSpPr>
          <p:nvPr>
            <p:ph type="pic" sz="quarter" idx="11"/>
          </p:nvPr>
        </p:nvSpPr>
        <p:spPr>
          <a:xfrm>
            <a:off x="3686649" y="1723661"/>
            <a:ext cx="1790292" cy="941161"/>
          </a:xfrm>
          <a:prstGeom prst="roundRect">
            <a:avLst>
              <a:gd name="adj" fmla="val 15279"/>
            </a:avLst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椭圆 8"/>
          <p:cNvSpPr/>
          <p:nvPr userDrawn="1"/>
        </p:nvSpPr>
        <p:spPr>
          <a:xfrm>
            <a:off x="4284616" y="3814355"/>
            <a:ext cx="574765" cy="574765"/>
          </a:xfrm>
          <a:prstGeom prst="ellipse">
            <a:avLst/>
          </a:prstGeom>
          <a:solidFill>
            <a:srgbClr val="A47D69"/>
          </a:solidFill>
          <a:ln w="38100">
            <a:solidFill>
              <a:srgbClr val="EFEE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10" name="矩形: 圆角 9"/>
          <p:cNvSpPr/>
          <p:nvPr userDrawn="1"/>
        </p:nvSpPr>
        <p:spPr>
          <a:xfrm>
            <a:off x="6446519" y="1574074"/>
            <a:ext cx="2005149" cy="2592978"/>
          </a:xfrm>
          <a:prstGeom prst="roundRect">
            <a:avLst>
              <a:gd name="adj" fmla="val 9501"/>
            </a:avLst>
          </a:prstGeom>
          <a:solidFill>
            <a:srgbClr val="A47D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11" name="图片占位符 4"/>
          <p:cNvSpPr>
            <a:spLocks noGrp="1"/>
          </p:cNvSpPr>
          <p:nvPr>
            <p:ph type="pic" sz="quarter" idx="12"/>
          </p:nvPr>
        </p:nvSpPr>
        <p:spPr>
          <a:xfrm>
            <a:off x="6553947" y="1723661"/>
            <a:ext cx="1790292" cy="941161"/>
          </a:xfrm>
          <a:prstGeom prst="roundRect">
            <a:avLst>
              <a:gd name="adj" fmla="val 15279"/>
            </a:avLst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7151914" y="3814355"/>
            <a:ext cx="574765" cy="574765"/>
          </a:xfrm>
          <a:prstGeom prst="ellipse">
            <a:avLst/>
          </a:prstGeom>
          <a:solidFill>
            <a:srgbClr val="A47D69"/>
          </a:solidFill>
          <a:ln w="38100">
            <a:solidFill>
              <a:srgbClr val="EFEE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 bwMode="auto">
          <a:xfrm>
            <a:off x="256540" y="187325"/>
            <a:ext cx="4184650" cy="2570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defRPr/>
            </a:pPr>
            <a:r>
              <a:rPr lang="en-US" altLang="en-US" sz="3600" b="1" i="1" kern="100">
                <a:solidFill>
                  <a:srgbClr val="AD8555"/>
                </a:solidFill>
                <a:latin typeface="Cinzel" panose="00000500000000000000" charset="0"/>
                <a:ea typeface="Open Sans" panose="020B0606030504020204" charset="0"/>
                <a:cs typeface="Cinzel" panose="00000500000000000000" charset="0"/>
              </a:rPr>
              <a:t>online Movie Ticket Booking System Analytics</a:t>
            </a:r>
            <a:endParaRPr lang="en-US" altLang="en-US" sz="3600" b="1" i="1" kern="100">
              <a:solidFill>
                <a:srgbClr val="AD8555"/>
              </a:solidFill>
              <a:latin typeface="Cinzel" panose="00000500000000000000" charset="0"/>
              <a:ea typeface="Open Sans" panose="020B0606030504020204" charset="0"/>
              <a:cs typeface="Cinzel" panose="00000500000000000000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4884420" y="238125"/>
            <a:ext cx="3810635" cy="4502150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15" name="Text Box 14"/>
          <p:cNvSpPr txBox="1"/>
          <p:nvPr/>
        </p:nvSpPr>
        <p:spPr>
          <a:xfrm>
            <a:off x="493395" y="3896995"/>
            <a:ext cx="3689985" cy="1071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400" b="1">
                <a:solidFill>
                  <a:srgbClr val="AD8555"/>
                </a:solidFill>
              </a:rPr>
              <a:t>Insights into movie preference, user booking behavior,showtime effectiveness,</a:t>
            </a:r>
            <a:r>
              <a:rPr lang="en-US" altLang="en-US" sz="1400" b="1">
                <a:solidFill>
                  <a:srgbClr val="AD8555"/>
                </a:solidFill>
                <a:sym typeface="+mn-ea"/>
              </a:rPr>
              <a:t>booking performance </a:t>
            </a:r>
            <a:r>
              <a:rPr lang="en-US" altLang="en-US" sz="1400" b="1">
                <a:solidFill>
                  <a:srgbClr val="AD8555"/>
                </a:solidFill>
              </a:rPr>
              <a:t>using MySQL.</a:t>
            </a:r>
            <a:endParaRPr lang="en-US" altLang="en-US" sz="1400" b="1">
              <a:solidFill>
                <a:srgbClr val="AD8555"/>
              </a:solidFill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493395" y="2571750"/>
            <a:ext cx="3634740" cy="1265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400" b="1">
                <a:solidFill>
                  <a:srgbClr val="AD8555"/>
                </a:solidFill>
              </a:rPr>
              <a:t>By : Jeevan V C</a:t>
            </a:r>
            <a:endParaRPr lang="en-US" altLang="en-US" sz="1400" b="1">
              <a:solidFill>
                <a:srgbClr val="AD8555"/>
              </a:solidFill>
            </a:endParaRPr>
          </a:p>
          <a:p>
            <a:r>
              <a:rPr lang="en-US" altLang="en-US" sz="1400" b="1">
                <a:solidFill>
                  <a:srgbClr val="AD8555"/>
                </a:solidFill>
              </a:rPr>
              <a:t>Course : Master in Data Science &amp; Analytics</a:t>
            </a:r>
            <a:endParaRPr lang="en-US" altLang="en-US" sz="1400" b="1">
              <a:solidFill>
                <a:srgbClr val="AD8555"/>
              </a:solidFill>
            </a:endParaRPr>
          </a:p>
          <a:p>
            <a:r>
              <a:rPr lang="en-US" altLang="en-US" sz="1400" b="1">
                <a:solidFill>
                  <a:srgbClr val="AD8555"/>
                </a:solidFill>
              </a:rPr>
              <a:t>with Artificial Intelligence</a:t>
            </a:r>
            <a:endParaRPr lang="en-US" altLang="en-US" sz="1400" b="1">
              <a:solidFill>
                <a:srgbClr val="AD8555"/>
              </a:solidFill>
            </a:endParaRPr>
          </a:p>
          <a:p>
            <a:r>
              <a:rPr lang="en-US" altLang="en-US" sz="1400" b="1">
                <a:solidFill>
                  <a:srgbClr val="AD8555"/>
                </a:solidFill>
              </a:rPr>
              <a:t>Institute : IT Vedant, Chennai</a:t>
            </a:r>
            <a:endParaRPr lang="en-US" altLang="en-US" sz="1400" b="1">
              <a:solidFill>
                <a:srgbClr val="AD8555"/>
              </a:solidFill>
            </a:endParaRPr>
          </a:p>
          <a:p>
            <a:endParaRPr lang="en-US" altLang="en-US" sz="1400" b="1">
              <a:solidFill>
                <a:srgbClr val="AD855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834390" y="370840"/>
            <a:ext cx="35312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 b="1">
                <a:solidFill>
                  <a:srgbClr val="AD8555"/>
                </a:solidFill>
              </a:rPr>
              <a:t>Movie Ticket Booking</a:t>
            </a:r>
            <a:endParaRPr lang="en-US" altLang="en-US" sz="2400" b="1">
              <a:solidFill>
                <a:srgbClr val="AD8555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03860" y="1279525"/>
            <a:ext cx="4053205" cy="3395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 i="1">
                <a:solidFill>
                  <a:srgbClr val="AD8555"/>
                </a:solidFill>
              </a:rPr>
              <a:t>Movie Ticket Booking is a system that allows users to book movie tickets online by selecting the movie, theatre, show time, seats, and making digital payments.</a:t>
            </a:r>
            <a:endParaRPr lang="en-US" altLang="en-US" sz="2400" i="1">
              <a:solidFill>
                <a:srgbClr val="AD8555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539615" y="1216660"/>
            <a:ext cx="284480" cy="392684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endParaRPr 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000000"/>
              </a:highlight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674870" y="544830"/>
            <a:ext cx="8255" cy="3879215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Text Box 6"/>
          <p:cNvSpPr txBox="1"/>
          <p:nvPr/>
        </p:nvSpPr>
        <p:spPr>
          <a:xfrm>
            <a:off x="4891405" y="370840"/>
            <a:ext cx="3460750" cy="43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 b="1">
                <a:solidFill>
                  <a:srgbClr val="AD8555"/>
                </a:solidFill>
              </a:rPr>
              <a:t>Key Points</a:t>
            </a:r>
            <a:endParaRPr lang="en-US" altLang="en-US" sz="2400" b="1">
              <a:solidFill>
                <a:srgbClr val="AD8555"/>
              </a:soli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4864100" y="1311275"/>
            <a:ext cx="380809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i="1">
                <a:solidFill>
                  <a:srgbClr val="AD8555"/>
                </a:solidFill>
              </a:rPr>
              <a:t>Easy and quick online booking</a:t>
            </a:r>
            <a:endParaRPr lang="en-US" altLang="en-US" sz="2000" i="1">
              <a:solidFill>
                <a:srgbClr val="AD8555"/>
              </a:solidFill>
            </a:endParaRPr>
          </a:p>
          <a:p>
            <a:endParaRPr lang="en-US" altLang="en-US" sz="2000" i="1">
              <a:solidFill>
                <a:srgbClr val="AD8555"/>
              </a:solidFill>
            </a:endParaRPr>
          </a:p>
          <a:p>
            <a:r>
              <a:rPr lang="en-US" altLang="en-US" sz="2000" i="1">
                <a:solidFill>
                  <a:srgbClr val="AD8555"/>
                </a:solidFill>
              </a:rPr>
              <a:t>Real-time seat selection</a:t>
            </a:r>
            <a:endParaRPr lang="en-US" altLang="en-US" sz="2000" i="1">
              <a:solidFill>
                <a:srgbClr val="AD8555"/>
              </a:solidFill>
            </a:endParaRPr>
          </a:p>
          <a:p>
            <a:endParaRPr lang="en-US" altLang="en-US" sz="2000" i="1">
              <a:solidFill>
                <a:srgbClr val="AD8555"/>
              </a:solidFill>
            </a:endParaRPr>
          </a:p>
          <a:p>
            <a:r>
              <a:rPr lang="en-US" altLang="en-US" sz="2000" i="1">
                <a:solidFill>
                  <a:srgbClr val="AD8555"/>
                </a:solidFill>
              </a:rPr>
              <a:t>Multiple digital payment options</a:t>
            </a:r>
            <a:endParaRPr lang="en-US" altLang="en-US" sz="2000" i="1">
              <a:solidFill>
                <a:srgbClr val="AD8555"/>
              </a:solidFill>
            </a:endParaRPr>
          </a:p>
          <a:p>
            <a:endParaRPr lang="en-US" altLang="en-US" sz="2000" i="1">
              <a:solidFill>
                <a:srgbClr val="AD8555"/>
              </a:solidFill>
            </a:endParaRPr>
          </a:p>
          <a:p>
            <a:r>
              <a:rPr lang="en-US" altLang="en-US" sz="2000" i="1">
                <a:solidFill>
                  <a:srgbClr val="AD8555"/>
                </a:solidFill>
              </a:rPr>
              <a:t>Instant booking confirmation</a:t>
            </a:r>
            <a:endParaRPr lang="en-US" altLang="en-US" sz="2000" i="1">
              <a:solidFill>
                <a:srgbClr val="AD855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67360" y="410210"/>
            <a:ext cx="46215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000" b="1" u="sng">
                <a:solidFill>
                  <a:srgbClr val="AD8555"/>
                </a:solidFill>
              </a:rPr>
              <a:t>Project Overview</a:t>
            </a:r>
            <a:endParaRPr lang="en-IN" altLang="en-US" sz="2000" b="1" u="sng">
              <a:solidFill>
                <a:srgbClr val="AD8555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67360" y="1121410"/>
            <a:ext cx="83515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en-US" i="1">
                <a:solidFill>
                  <a:srgbClr val="AD8555"/>
                </a:solidFill>
                <a:sym typeface="+mn-ea"/>
              </a:rPr>
              <a:t>The title of my project is Online Movie Ticket Booking System Analysis using MySQL.</a:t>
            </a:r>
            <a:endParaRPr lang="en-US" altLang="en-US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i="1">
                <a:solidFill>
                  <a:srgbClr val="AD8555"/>
                </a:solidFill>
                <a:sym typeface="+mn-ea"/>
              </a:rPr>
              <a:t>This project focuses on analyzing movie performance, customer booking behavior, show timings, and revenue trends using structured data.</a:t>
            </a:r>
            <a:endParaRPr lang="en-US" altLang="en-US" i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19430" y="2251075"/>
            <a:ext cx="8193405" cy="25177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IN" altLang="en-US" sz="2000" b="1" i="1" u="sng">
                <a:solidFill>
                  <a:srgbClr val="AD8555"/>
                </a:solidFill>
                <a:sym typeface="+mn-ea"/>
              </a:rPr>
              <a:t>Purpose</a:t>
            </a:r>
            <a:endParaRPr lang="en-IN" altLang="en-US" sz="20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endParaRPr lang="en-IN" altLang="en-US" sz="2000" i="1">
              <a:solidFill>
                <a:srgbClr val="AD8555"/>
              </a:solidFill>
              <a:sym typeface="+mn-ea"/>
            </a:endParaRPr>
          </a:p>
          <a:p>
            <a:pPr marL="457200" lvl="0" indent="-457200" algn="l">
              <a:buClrTx/>
              <a:buSzTx/>
              <a:buFont typeface="Wingdings" panose="05000000000000000000" charset="0"/>
              <a:buChar char="v"/>
            </a:pPr>
            <a:r>
              <a:rPr lang="en-IN" altLang="en-US" sz="2000" i="1">
                <a:solidFill>
                  <a:srgbClr val="AD8555"/>
                </a:solidFill>
                <a:sym typeface="+mn-ea"/>
              </a:rPr>
              <a:t>To analyze online movie ticket booking data using MySQL</a:t>
            </a:r>
            <a:endParaRPr lang="en-IN" altLang="en-US" sz="2000" i="1">
              <a:solidFill>
                <a:srgbClr val="AD8555"/>
              </a:solidFill>
              <a:sym typeface="+mn-ea"/>
            </a:endParaRPr>
          </a:p>
          <a:p>
            <a:pPr marL="457200" lvl="0" indent="-457200" algn="l">
              <a:buClrTx/>
              <a:buSzTx/>
              <a:buFont typeface="Wingdings" panose="05000000000000000000" charset="0"/>
              <a:buChar char="v"/>
            </a:pPr>
            <a:endParaRPr lang="en-IN" altLang="en-US" sz="2000" i="1">
              <a:solidFill>
                <a:srgbClr val="AD8555"/>
              </a:solidFill>
              <a:sym typeface="+mn-ea"/>
            </a:endParaRPr>
          </a:p>
          <a:p>
            <a:pPr marL="457200" lvl="0" indent="-457200" algn="l">
              <a:buClrTx/>
              <a:buSzTx/>
              <a:buFont typeface="Wingdings" panose="05000000000000000000" charset="0"/>
              <a:buChar char="v"/>
            </a:pPr>
            <a:r>
              <a:rPr lang="en-IN" altLang="en-US" sz="2000" i="1">
                <a:solidFill>
                  <a:srgbClr val="AD8555"/>
                </a:solidFill>
                <a:sym typeface="+mn-ea"/>
              </a:rPr>
              <a:t>To identify customer behavior, movie demand, and peak showtimes</a:t>
            </a:r>
            <a:endParaRPr lang="en-IN" altLang="en-US" sz="2000" i="1">
              <a:solidFill>
                <a:srgbClr val="AD8555"/>
              </a:solidFill>
              <a:sym typeface="+mn-ea"/>
            </a:endParaRPr>
          </a:p>
          <a:p>
            <a:pPr marL="457200" lvl="0" indent="-457200" algn="l">
              <a:buClrTx/>
              <a:buSzTx/>
              <a:buFont typeface="Wingdings" panose="05000000000000000000" charset="0"/>
              <a:buChar char="v"/>
            </a:pPr>
            <a:endParaRPr lang="en-IN" altLang="en-US" sz="2000" i="1">
              <a:solidFill>
                <a:srgbClr val="AD8555"/>
              </a:solidFill>
              <a:sym typeface="+mn-ea"/>
            </a:endParaRPr>
          </a:p>
          <a:p>
            <a:pPr marL="457200" lvl="0" indent="-457200" algn="l">
              <a:buClrTx/>
              <a:buSzTx/>
              <a:buFont typeface="Wingdings" panose="05000000000000000000" charset="0"/>
              <a:buChar char="v"/>
            </a:pPr>
            <a:r>
              <a:rPr lang="en-IN" altLang="en-US" sz="2000" i="1">
                <a:solidFill>
                  <a:srgbClr val="AD8555"/>
                </a:solidFill>
                <a:sym typeface="+mn-ea"/>
              </a:rPr>
              <a:t>To </a:t>
            </a:r>
            <a:r>
              <a:rPr lang="en-IN" altLang="en-US" sz="2000" i="1">
                <a:solidFill>
                  <a:srgbClr val="AD8555"/>
                </a:solidFill>
                <a:sym typeface="+mn-ea"/>
              </a:rPr>
              <a:t>evaluate revenue </a:t>
            </a:r>
            <a:r>
              <a:rPr lang="en-IN" altLang="en-US" sz="2000" i="1">
                <a:solidFill>
                  <a:srgbClr val="AD8555"/>
                </a:solidFill>
                <a:sym typeface="+mn-ea"/>
              </a:rPr>
              <a:t>trends and improve scheduling decisions</a:t>
            </a:r>
            <a:endParaRPr lang="en-IN" altLang="en-US" sz="2000" i="1">
              <a:solidFill>
                <a:srgbClr val="AD8555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46100" y="236220"/>
            <a:ext cx="77266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000" b="1" u="sng">
                <a:solidFill>
                  <a:srgbClr val="AD8555"/>
                </a:solidFill>
              </a:rPr>
              <a:t>Tables And Insert Data</a:t>
            </a:r>
            <a:endParaRPr lang="en-IN" altLang="en-US" sz="2000" b="1" u="sng">
              <a:solidFill>
                <a:srgbClr val="AD8555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46100" y="749935"/>
            <a:ext cx="67475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solidFill>
                  <a:srgbClr val="AD8555"/>
                </a:solidFill>
              </a:rPr>
              <a:t>TABLE 1: Users</a:t>
            </a:r>
            <a:endParaRPr lang="en-US" altLang="en-US" b="1">
              <a:solidFill>
                <a:srgbClr val="AD8555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572000" y="454660"/>
            <a:ext cx="4874895" cy="4853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US" sz="900" b="1" i="1">
              <a:solidFill>
                <a:srgbClr val="AD8555"/>
              </a:solidFill>
            </a:endParaRPr>
          </a:p>
          <a:p>
            <a:r>
              <a:rPr lang="en-US" altLang="en-US" sz="900" b="1" i="1">
                <a:solidFill>
                  <a:srgbClr val="AD8555"/>
                </a:solidFill>
              </a:rPr>
              <a:t>INSERT INTO Users VALUES</a:t>
            </a:r>
            <a:endParaRPr lang="en-US" altLang="en-US" sz="900" b="1" i="1">
              <a:solidFill>
                <a:srgbClr val="AD8555"/>
              </a:solidFill>
            </a:endParaRPr>
          </a:p>
          <a:p>
            <a:r>
              <a:rPr lang="en-US" altLang="en-US" sz="900" b="1" i="1">
                <a:solidFill>
                  <a:srgbClr val="AD8555"/>
                </a:solidFill>
              </a:rPr>
              <a:t>(1,'Arjun','Mumbai','2023-01-01'),</a:t>
            </a:r>
            <a:endParaRPr lang="en-US" altLang="en-US" sz="900" b="1" i="1">
              <a:solidFill>
                <a:srgbClr val="AD8555"/>
              </a:solidFill>
            </a:endParaRPr>
          </a:p>
          <a:p>
            <a:r>
              <a:rPr lang="en-US" altLang="en-US" sz="900" b="1" i="1">
                <a:solidFill>
                  <a:srgbClr val="AD8555"/>
                </a:solidFill>
              </a:rPr>
              <a:t>(2,'Rahul','Delhi','2023-01-02'),</a:t>
            </a:r>
            <a:endParaRPr lang="en-US" altLang="en-US" sz="900" b="1" i="1">
              <a:solidFill>
                <a:srgbClr val="AD8555"/>
              </a:solidFill>
            </a:endParaRPr>
          </a:p>
          <a:p>
            <a:r>
              <a:rPr lang="en-US" altLang="en-US" sz="900" b="1" i="1">
                <a:solidFill>
                  <a:srgbClr val="AD8555"/>
                </a:solidFill>
              </a:rPr>
              <a:t>(3,'Kavya','Chennai','2023-01-03'),</a:t>
            </a:r>
            <a:endParaRPr lang="en-US" altLang="en-US" sz="900" b="1" i="1">
              <a:solidFill>
                <a:srgbClr val="AD8555"/>
              </a:solidFill>
            </a:endParaRPr>
          </a:p>
          <a:p>
            <a:r>
              <a:rPr lang="en-US" altLang="en-US" sz="900" b="1" i="1">
                <a:solidFill>
                  <a:srgbClr val="AD8555"/>
                </a:solidFill>
              </a:rPr>
              <a:t>(4,'Meera','Bangalore','2023-01-04'),</a:t>
            </a:r>
            <a:endParaRPr lang="en-US" altLang="en-US" sz="900" b="1" i="1">
              <a:solidFill>
                <a:srgbClr val="AD8555"/>
              </a:solidFill>
            </a:endParaRPr>
          </a:p>
          <a:p>
            <a:r>
              <a:rPr lang="en-US" altLang="en-US" sz="900" b="1" i="1">
                <a:solidFill>
                  <a:srgbClr val="AD8555"/>
                </a:solidFill>
              </a:rPr>
              <a:t>(5,'Sanjay','Hyderabad','2023-01-05'),</a:t>
            </a:r>
            <a:endParaRPr lang="en-US" altLang="en-US" sz="900" b="1" i="1">
              <a:solidFill>
                <a:srgbClr val="AD8555"/>
              </a:solidFill>
            </a:endParaRPr>
          </a:p>
          <a:p>
            <a:r>
              <a:rPr lang="en-US" altLang="en-US" sz="900" b="1" i="1">
                <a:solidFill>
                  <a:srgbClr val="AD8555"/>
                </a:solidFill>
              </a:rPr>
              <a:t>(6,'Aditi','Pune','2023-01-06'),</a:t>
            </a:r>
            <a:endParaRPr lang="en-US" altLang="en-US" sz="900" b="1" i="1">
              <a:solidFill>
                <a:srgbClr val="AD8555"/>
              </a:solidFill>
            </a:endParaRPr>
          </a:p>
          <a:p>
            <a:r>
              <a:rPr lang="en-US" altLang="en-US" sz="900" b="1" i="1">
                <a:solidFill>
                  <a:srgbClr val="AD8555"/>
                </a:solidFill>
              </a:rPr>
              <a:t>(7,'Ravi','Mumbai','2023-01-07'),</a:t>
            </a:r>
            <a:endParaRPr lang="en-US" altLang="en-US" sz="900" b="1" i="1">
              <a:solidFill>
                <a:srgbClr val="AD8555"/>
              </a:solidFill>
            </a:endParaRPr>
          </a:p>
          <a:p>
            <a:r>
              <a:rPr lang="en-US" altLang="en-US" sz="900" b="1" i="1">
                <a:solidFill>
                  <a:srgbClr val="AD8555"/>
                </a:solidFill>
              </a:rPr>
              <a:t>(8,'Divya','Delhi','2023-01-08'),</a:t>
            </a:r>
            <a:endParaRPr lang="en-US" altLang="en-US" sz="900" b="1" i="1">
              <a:solidFill>
                <a:srgbClr val="AD8555"/>
              </a:solidFill>
            </a:endParaRPr>
          </a:p>
          <a:p>
            <a:r>
              <a:rPr lang="en-US" altLang="en-US" sz="900" b="1" i="1">
                <a:solidFill>
                  <a:srgbClr val="AD8555"/>
                </a:solidFill>
              </a:rPr>
              <a:t>(9,'Vishal','Bangalore','2023-01-09'),</a:t>
            </a:r>
            <a:endParaRPr lang="en-US" altLang="en-US" sz="900" b="1" i="1">
              <a:solidFill>
                <a:srgbClr val="AD8555"/>
              </a:solidFill>
            </a:endParaRPr>
          </a:p>
          <a:p>
            <a:r>
              <a:rPr lang="en-US" altLang="en-US" sz="900" b="1" i="1">
                <a:solidFill>
                  <a:srgbClr val="AD8555"/>
                </a:solidFill>
              </a:rPr>
              <a:t>(10,'Sneha','Pune','2023-01-10'),</a:t>
            </a:r>
            <a:endParaRPr lang="en-US" altLang="en-US" sz="900" b="1" i="1">
              <a:solidFill>
                <a:srgbClr val="AD8555"/>
              </a:solidFill>
            </a:endParaRPr>
          </a:p>
          <a:p>
            <a:r>
              <a:rPr lang="en-US" altLang="en-US" sz="900" b="1" i="1">
                <a:solidFill>
                  <a:srgbClr val="AD8555"/>
                </a:solidFill>
              </a:rPr>
              <a:t>(11,'Harish','Hyderabad','2023-01-11'),</a:t>
            </a:r>
            <a:endParaRPr lang="en-US" altLang="en-US" sz="900" b="1" i="1">
              <a:solidFill>
                <a:srgbClr val="AD8555"/>
              </a:solidFill>
            </a:endParaRPr>
          </a:p>
          <a:p>
            <a:r>
              <a:rPr lang="en-US" altLang="en-US" sz="900" b="1" i="1">
                <a:solidFill>
                  <a:srgbClr val="AD8555"/>
                </a:solidFill>
              </a:rPr>
              <a:t>(12,'Ananya','Chennai','2023-01-12'),</a:t>
            </a:r>
            <a:endParaRPr lang="en-US" altLang="en-US" sz="900" b="1" i="1">
              <a:solidFill>
                <a:srgbClr val="AD8555"/>
              </a:solidFill>
            </a:endParaRPr>
          </a:p>
          <a:p>
            <a:r>
              <a:rPr lang="en-US" altLang="en-US" sz="900" b="1" i="1">
                <a:solidFill>
                  <a:srgbClr val="AD8555"/>
                </a:solidFill>
              </a:rPr>
              <a:t>(13,'Karan','Delhi','2023-01-13'),</a:t>
            </a:r>
            <a:endParaRPr lang="en-US" altLang="en-US" sz="900" b="1" i="1">
              <a:solidFill>
                <a:srgbClr val="AD8555"/>
              </a:solidFill>
            </a:endParaRPr>
          </a:p>
          <a:p>
            <a:r>
              <a:rPr lang="en-US" altLang="en-US" sz="900" b="1" i="1">
                <a:solidFill>
                  <a:srgbClr val="AD8555"/>
                </a:solidFill>
              </a:rPr>
              <a:t>(14,'Neha','Mumbai','2023-01-14'),</a:t>
            </a:r>
            <a:endParaRPr lang="en-US" altLang="en-US" sz="900" b="1" i="1">
              <a:solidFill>
                <a:srgbClr val="AD8555"/>
              </a:solidFill>
            </a:endParaRPr>
          </a:p>
          <a:p>
            <a:r>
              <a:rPr lang="en-US" altLang="en-US" sz="900" b="1" i="1">
                <a:solidFill>
                  <a:srgbClr val="AD8555"/>
                </a:solidFill>
              </a:rPr>
              <a:t>(15,'Pooja','Bangalore','2023-01-15'),</a:t>
            </a:r>
            <a:endParaRPr lang="en-US" altLang="en-US" sz="900" b="1" i="1">
              <a:solidFill>
                <a:srgbClr val="AD8555"/>
              </a:solidFill>
            </a:endParaRPr>
          </a:p>
          <a:p>
            <a:r>
              <a:rPr lang="en-US" altLang="en-US" sz="900" b="1" i="1">
                <a:solidFill>
                  <a:srgbClr val="AD8555"/>
                </a:solidFill>
              </a:rPr>
              <a:t>(16,'Rohit','Pune','2023-01-16'),</a:t>
            </a:r>
            <a:endParaRPr lang="en-US" altLang="en-US" sz="900" b="1" i="1">
              <a:solidFill>
                <a:srgbClr val="AD8555"/>
              </a:solidFill>
            </a:endParaRPr>
          </a:p>
          <a:p>
            <a:r>
              <a:rPr lang="en-US" altLang="en-US" sz="900" b="1" i="1">
                <a:solidFill>
                  <a:srgbClr val="AD8555"/>
                </a:solidFill>
              </a:rPr>
              <a:t>(17,'Suresh','Chennai','2023-01-17'),</a:t>
            </a:r>
            <a:endParaRPr lang="en-US" altLang="en-US" sz="900" b="1" i="1">
              <a:solidFill>
                <a:srgbClr val="AD8555"/>
              </a:solidFill>
            </a:endParaRPr>
          </a:p>
          <a:p>
            <a:r>
              <a:rPr lang="en-US" altLang="en-US" sz="900" b="1" i="1">
                <a:solidFill>
                  <a:srgbClr val="AD8555"/>
                </a:solidFill>
              </a:rPr>
              <a:t>(18,'Nisha','Delhi','2023-01-18'),</a:t>
            </a:r>
            <a:endParaRPr lang="en-US" altLang="en-US" sz="900" b="1" i="1">
              <a:solidFill>
                <a:srgbClr val="AD8555"/>
              </a:solidFill>
            </a:endParaRPr>
          </a:p>
          <a:p>
            <a:r>
              <a:rPr lang="en-US" altLang="en-US" sz="900" b="1" i="1">
                <a:solidFill>
                  <a:srgbClr val="AD8555"/>
                </a:solidFill>
              </a:rPr>
              <a:t>(19,'Varun','Hyderabad','2023-01-19'),</a:t>
            </a:r>
            <a:endParaRPr lang="en-US" altLang="en-US" sz="900" b="1" i="1">
              <a:solidFill>
                <a:srgbClr val="AD8555"/>
              </a:solidFill>
            </a:endParaRPr>
          </a:p>
          <a:p>
            <a:r>
              <a:rPr lang="en-US" altLang="en-US" sz="900" b="1" i="1">
                <a:solidFill>
                  <a:srgbClr val="AD8555"/>
                </a:solidFill>
              </a:rPr>
              <a:t>(20,'Gayathri','Bangalore','2023-01-20'),</a:t>
            </a:r>
            <a:endParaRPr lang="en-US" altLang="en-US" sz="900" b="1" i="1">
              <a:solidFill>
                <a:srgbClr val="AD8555"/>
              </a:solidFill>
            </a:endParaRPr>
          </a:p>
          <a:p>
            <a:r>
              <a:rPr lang="en-US" altLang="en-US" sz="900" b="1" i="1">
                <a:solidFill>
                  <a:srgbClr val="AD8555"/>
                </a:solidFill>
              </a:rPr>
              <a:t>(21,'Deepak','Mumbai','2023-01-21'),</a:t>
            </a:r>
            <a:endParaRPr lang="en-US" altLang="en-US" sz="900" b="1" i="1">
              <a:solidFill>
                <a:srgbClr val="AD8555"/>
              </a:solidFill>
            </a:endParaRPr>
          </a:p>
          <a:p>
            <a:r>
              <a:rPr lang="en-US" altLang="en-US" sz="900" b="1" i="1">
                <a:solidFill>
                  <a:srgbClr val="AD8555"/>
                </a:solidFill>
              </a:rPr>
              <a:t>(22,'Pavitra','Pune','2023-01-22'),</a:t>
            </a:r>
            <a:endParaRPr lang="en-US" altLang="en-US" sz="900" b="1" i="1">
              <a:solidFill>
                <a:srgbClr val="AD8555"/>
              </a:solidFill>
            </a:endParaRPr>
          </a:p>
          <a:p>
            <a:r>
              <a:rPr lang="en-US" altLang="en-US" sz="900" b="1" i="1">
                <a:solidFill>
                  <a:srgbClr val="AD8555"/>
                </a:solidFill>
              </a:rPr>
              <a:t>(23,'Kiran','Delhi','2023-01-23'),</a:t>
            </a:r>
            <a:endParaRPr lang="en-US" altLang="en-US" sz="900" b="1" i="1">
              <a:solidFill>
                <a:srgbClr val="AD8555"/>
              </a:solidFill>
            </a:endParaRPr>
          </a:p>
          <a:p>
            <a:r>
              <a:rPr lang="en-US" altLang="en-US" sz="900" b="1" i="1">
                <a:solidFill>
                  <a:srgbClr val="AD8555"/>
                </a:solidFill>
              </a:rPr>
              <a:t>(24,'Manoj','Chennai','2023-01-24'),</a:t>
            </a:r>
            <a:endParaRPr lang="en-US" altLang="en-US" sz="900" b="1" i="1">
              <a:solidFill>
                <a:srgbClr val="AD8555"/>
              </a:solidFill>
            </a:endParaRPr>
          </a:p>
          <a:p>
            <a:r>
              <a:rPr lang="en-US" altLang="en-US" sz="900" b="1" i="1">
                <a:solidFill>
                  <a:srgbClr val="AD8555"/>
                </a:solidFill>
              </a:rPr>
              <a:t>(25,'Rekha','Hyderabad','2023-01-25'),</a:t>
            </a:r>
            <a:endParaRPr lang="en-US" altLang="en-US" sz="900" b="1" i="1">
              <a:solidFill>
                <a:srgbClr val="AD8555"/>
              </a:solidFill>
            </a:endParaRPr>
          </a:p>
          <a:p>
            <a:r>
              <a:rPr lang="en-US" altLang="en-US" sz="900" b="1" i="1">
                <a:solidFill>
                  <a:srgbClr val="AD8555"/>
                </a:solidFill>
              </a:rPr>
              <a:t>(26,'Suraj','Mumbai','2023-01-26'),</a:t>
            </a:r>
            <a:endParaRPr lang="en-US" altLang="en-US" sz="900" b="1" i="1">
              <a:solidFill>
                <a:srgbClr val="AD8555"/>
              </a:solidFill>
            </a:endParaRPr>
          </a:p>
          <a:p>
            <a:r>
              <a:rPr lang="en-US" altLang="en-US" sz="900" b="1" i="1">
                <a:solidFill>
                  <a:srgbClr val="AD8555"/>
                </a:solidFill>
              </a:rPr>
              <a:t>(27,'Tarun','Delhi','2023-01-27'),</a:t>
            </a:r>
            <a:endParaRPr lang="en-US" altLang="en-US" sz="900" b="1" i="1">
              <a:solidFill>
                <a:srgbClr val="AD8555"/>
              </a:solidFill>
            </a:endParaRPr>
          </a:p>
          <a:p>
            <a:r>
              <a:rPr lang="en-US" altLang="en-US" sz="900" b="1" i="1">
                <a:solidFill>
                  <a:srgbClr val="AD8555"/>
                </a:solidFill>
              </a:rPr>
              <a:t>(28,'Gokul','Chennai','2023-01-28'),</a:t>
            </a:r>
            <a:endParaRPr lang="en-US" altLang="en-US" sz="900" b="1" i="1">
              <a:solidFill>
                <a:srgbClr val="AD8555"/>
              </a:solidFill>
            </a:endParaRPr>
          </a:p>
          <a:p>
            <a:r>
              <a:rPr lang="en-US" altLang="en-US" sz="900" b="1" i="1">
                <a:solidFill>
                  <a:srgbClr val="AD8555"/>
                </a:solidFill>
              </a:rPr>
              <a:t>(29,'Mahesh','Bangalore','2023-01-29'),</a:t>
            </a:r>
            <a:endParaRPr lang="en-US" altLang="en-US" sz="900" b="1" i="1">
              <a:solidFill>
                <a:srgbClr val="AD8555"/>
              </a:solidFill>
            </a:endParaRPr>
          </a:p>
          <a:p>
            <a:r>
              <a:rPr lang="en-US" altLang="en-US" sz="900" b="1" i="1">
                <a:solidFill>
                  <a:srgbClr val="AD8555"/>
                </a:solidFill>
              </a:rPr>
              <a:t>(30,'Vimal','Pune','2023-01-30');</a:t>
            </a:r>
            <a:endParaRPr lang="en-US" altLang="en-US" sz="900" b="1" i="1">
              <a:solidFill>
                <a:srgbClr val="AD8555"/>
              </a:solidFill>
            </a:endParaRPr>
          </a:p>
          <a:p>
            <a:endParaRPr lang="en-US" altLang="en-US" sz="900" b="1" i="1">
              <a:solidFill>
                <a:srgbClr val="AD8555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01345" y="2764790"/>
            <a:ext cx="347599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600" i="1">
                <a:solidFill>
                  <a:srgbClr val="AD8555"/>
                </a:solidFill>
                <a:sym typeface="+mn-ea"/>
              </a:rPr>
              <a:t>CREATE TABLE Users (</a:t>
            </a:r>
            <a:endParaRPr lang="en-US" altLang="en-US" sz="1600" i="1">
              <a:solidFill>
                <a:srgbClr val="AD8555"/>
              </a:solidFill>
            </a:endParaRPr>
          </a:p>
          <a:p>
            <a:r>
              <a:rPr lang="en-US" altLang="en-US" sz="1600" i="1">
                <a:solidFill>
                  <a:srgbClr val="AD8555"/>
                </a:solidFill>
                <a:sym typeface="+mn-ea"/>
              </a:rPr>
              <a:t>    UserID INT PRIMARY KEY,</a:t>
            </a:r>
            <a:endParaRPr lang="en-US" altLang="en-US" sz="1600" i="1">
              <a:solidFill>
                <a:srgbClr val="AD8555"/>
              </a:solidFill>
            </a:endParaRPr>
          </a:p>
          <a:p>
            <a:r>
              <a:rPr lang="en-US" altLang="en-US" sz="1600" i="1">
                <a:solidFill>
                  <a:srgbClr val="AD8555"/>
                </a:solidFill>
                <a:sym typeface="+mn-ea"/>
              </a:rPr>
              <a:t>    UserName VARCHAR(50),</a:t>
            </a:r>
            <a:endParaRPr lang="en-US" altLang="en-US" sz="1600" i="1">
              <a:solidFill>
                <a:srgbClr val="AD8555"/>
              </a:solidFill>
            </a:endParaRPr>
          </a:p>
          <a:p>
            <a:r>
              <a:rPr lang="en-US" altLang="en-US" sz="1600" i="1">
                <a:solidFill>
                  <a:srgbClr val="AD8555"/>
                </a:solidFill>
                <a:sym typeface="+mn-ea"/>
              </a:rPr>
              <a:t>    City VARCHAR(30),</a:t>
            </a:r>
            <a:endParaRPr lang="en-US" altLang="en-US" sz="1600" i="1">
              <a:solidFill>
                <a:srgbClr val="AD8555"/>
              </a:solidFill>
            </a:endParaRPr>
          </a:p>
          <a:p>
            <a:r>
              <a:rPr lang="en-US" altLang="en-US" sz="1600" i="1">
                <a:solidFill>
                  <a:srgbClr val="AD8555"/>
                </a:solidFill>
                <a:sym typeface="+mn-ea"/>
              </a:rPr>
              <a:t>    SignupDate DATE</a:t>
            </a:r>
            <a:endParaRPr lang="en-US" altLang="en-US" sz="1600" i="1">
              <a:solidFill>
                <a:srgbClr val="AD8555"/>
              </a:solidFill>
            </a:endParaRPr>
          </a:p>
          <a:p>
            <a:r>
              <a:rPr lang="en-US" altLang="en-US" sz="1600" i="1">
                <a:solidFill>
                  <a:srgbClr val="AD8555"/>
                </a:solidFill>
                <a:sym typeface="+mn-ea"/>
              </a:rPr>
              <a:t>);</a:t>
            </a:r>
            <a:endParaRPr lang="en-US" altLang="en-US" sz="1600" i="1">
              <a:solidFill>
                <a:srgbClr val="AD8555"/>
              </a:solidFill>
            </a:endParaRPr>
          </a:p>
          <a:p>
            <a:endParaRPr lang="en-US" altLang="en-US" sz="1600" i="1">
              <a:solidFill>
                <a:srgbClr val="AD8555"/>
              </a:solidFill>
            </a:endParaRPr>
          </a:p>
        </p:txBody>
      </p:sp>
      <p:pic>
        <p:nvPicPr>
          <p:cNvPr id="8" name="Picture 7"/>
          <p:cNvPicPr/>
          <p:nvPr/>
        </p:nvPicPr>
        <p:blipFill>
          <a:blip r:embed="rId1"/>
          <a:stretch>
            <a:fillRect/>
          </a:stretch>
        </p:blipFill>
        <p:spPr>
          <a:xfrm>
            <a:off x="853440" y="1388745"/>
            <a:ext cx="1478280" cy="10452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49910" y="299720"/>
            <a:ext cx="2710180" cy="424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b="1">
                <a:solidFill>
                  <a:srgbClr val="AD8555"/>
                </a:solidFill>
                <a:sym typeface="+mn-ea"/>
              </a:rPr>
              <a:t>TABLE </a:t>
            </a:r>
            <a:r>
              <a:rPr lang="en-IN" altLang="en-US" b="1">
                <a:solidFill>
                  <a:srgbClr val="AD8555"/>
                </a:solidFill>
                <a:sym typeface="+mn-ea"/>
              </a:rPr>
              <a:t>2</a:t>
            </a:r>
            <a:r>
              <a:rPr lang="en-US" altLang="en-US" b="1">
                <a:solidFill>
                  <a:srgbClr val="AD8555"/>
                </a:solidFill>
                <a:sym typeface="+mn-ea"/>
              </a:rPr>
              <a:t>: </a:t>
            </a:r>
            <a:r>
              <a:rPr lang="en-IN" altLang="en-US" b="1">
                <a:solidFill>
                  <a:srgbClr val="AD8555"/>
                </a:solidFill>
                <a:sym typeface="+mn-ea"/>
              </a:rPr>
              <a:t>Movies</a:t>
            </a:r>
            <a:endParaRPr lang="en-US" altLang="en-US" b="1">
              <a:solidFill>
                <a:srgbClr val="AD8555"/>
              </a:solidFill>
            </a:endParaRPr>
          </a:p>
          <a:p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344170" y="2907665"/>
            <a:ext cx="396621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en-US" sz="1600" i="1">
                <a:solidFill>
                  <a:srgbClr val="AD8555"/>
                </a:solidFill>
                <a:sym typeface="+mn-ea"/>
              </a:rPr>
              <a:t>CREATE TABLE Movies (</a:t>
            </a:r>
            <a:endParaRPr lang="en-US" altLang="en-US" sz="16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600" i="1">
                <a:solidFill>
                  <a:srgbClr val="AD8555"/>
                </a:solidFill>
                <a:sym typeface="+mn-ea"/>
              </a:rPr>
              <a:t>    MovieID INT PRIMARY KEY,</a:t>
            </a:r>
            <a:endParaRPr lang="en-US" altLang="en-US" sz="16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600" i="1">
                <a:solidFill>
                  <a:srgbClr val="AD8555"/>
                </a:solidFill>
                <a:sym typeface="+mn-ea"/>
              </a:rPr>
              <a:t>    </a:t>
            </a:r>
            <a:r>
              <a:rPr lang="en-US" altLang="en-US" sz="1600" i="1">
                <a:solidFill>
                  <a:srgbClr val="AD8555"/>
                </a:solidFill>
                <a:sym typeface="+mn-ea"/>
              </a:rPr>
              <a:t>MovieName </a:t>
            </a:r>
            <a:r>
              <a:rPr lang="en-US" altLang="en-US" sz="1600" i="1">
                <a:solidFill>
                  <a:srgbClr val="AD8555"/>
                </a:solidFill>
                <a:sym typeface="+mn-ea"/>
              </a:rPr>
              <a:t>VARCHAR(50),</a:t>
            </a:r>
            <a:endParaRPr lang="en-US" altLang="en-US" sz="16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600" i="1">
                <a:solidFill>
                  <a:srgbClr val="AD8555"/>
                </a:solidFill>
                <a:sym typeface="+mn-ea"/>
              </a:rPr>
              <a:t>    Genre VARCHAR(20),</a:t>
            </a:r>
            <a:endParaRPr lang="en-US" altLang="en-US" sz="16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600" i="1">
                <a:solidFill>
                  <a:srgbClr val="AD8555"/>
                </a:solidFill>
                <a:sym typeface="+mn-ea"/>
              </a:rPr>
              <a:t>    Language VARCHAR(20)</a:t>
            </a:r>
            <a:endParaRPr lang="en-US" altLang="en-US" sz="16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600" i="1">
                <a:solidFill>
                  <a:srgbClr val="AD8555"/>
                </a:solidFill>
                <a:sym typeface="+mn-ea"/>
              </a:rPr>
              <a:t>);</a:t>
            </a:r>
            <a:endParaRPr lang="en-US" altLang="en-US" sz="16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en-US" sz="1600" i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737100" y="426085"/>
            <a:ext cx="4013835" cy="8955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INSERT INTO Movies VALUES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(101,'Leo','Action','Tamil'),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(102,'Jawan','Action','Hindi'),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(103,'KGF 2','Action','Kannada'),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(104,'RRR','Drama','Telugu'),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(105,'Vikram','Thriller','Tamil'),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(106,'3 Idiots','Comedy','Hindi'),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(107,'Pushpa','Action','Telugu'),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(108,'Master','Action','Tamil'),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(109,'Drishyam 2','Thriller','Hindi'),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(110,'Bahubali','Action','Telugu'),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(111,'Dunki','Comedy','Hindi'),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(112,'Kaithi','Action','Tamil'),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(113,'Kantara','Drama','Kannada'),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(114,'Ghajini','Action','Hindi'),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(115,'Sita Ramam','Romance','Telugu'),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(116,'Chhichhore','Comedy','Hindi'),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(117,'Beast','Action','Tamil'),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(118,'Asuran','Drama','Tamil'),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(119,'Robot','Sci-Fi','Tamil'),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(120,'PK','Comedy','Hindi'),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(121,'Dear Zindagi','Drama','Hindi'),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(122,'Sarkar','Political','Tamil'),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(123,'Maanaadu','Thriller','Tamil'),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(124,'Charlie','Drama','Kannada'),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(125,'Bigil','Sports','Tamil'),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(126,'Kushi','Romance','Telugu'),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(127,'Salaar','Action','Kannada'),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(128,'Hi Nanna','Drama','Telugu'),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(129,'Adipurush','Mythology','Hindi'),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(130,'Leo Returns','Action','Tamil');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</p:txBody>
      </p:sp>
      <p:pic>
        <p:nvPicPr>
          <p:cNvPr id="7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668020" y="843280"/>
            <a:ext cx="2141220" cy="18027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462915" y="370840"/>
            <a:ext cx="2157095" cy="5346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b="1">
                <a:solidFill>
                  <a:srgbClr val="AD8555"/>
                </a:solidFill>
                <a:sym typeface="+mn-ea"/>
              </a:rPr>
              <a:t>TABLE </a:t>
            </a:r>
            <a:r>
              <a:rPr lang="en-IN" altLang="en-US" b="1">
                <a:solidFill>
                  <a:srgbClr val="AD8555"/>
                </a:solidFill>
                <a:sym typeface="+mn-ea"/>
              </a:rPr>
              <a:t>3</a:t>
            </a:r>
            <a:r>
              <a:rPr lang="en-US" altLang="en-US" b="1">
                <a:solidFill>
                  <a:srgbClr val="AD8555"/>
                </a:solidFill>
                <a:sym typeface="+mn-ea"/>
              </a:rPr>
              <a:t>:</a:t>
            </a:r>
            <a:r>
              <a:rPr lang="en-IN" altLang="en-US" b="1">
                <a:solidFill>
                  <a:srgbClr val="AD8555"/>
                </a:solidFill>
                <a:sym typeface="+mn-ea"/>
              </a:rPr>
              <a:t> Shows</a:t>
            </a:r>
            <a:endParaRPr lang="en-US" altLang="en-US" b="1">
              <a:solidFill>
                <a:srgbClr val="AD8555"/>
              </a:solidFill>
            </a:endParaRPr>
          </a:p>
          <a:p>
            <a:endParaRPr lang="en-US"/>
          </a:p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581660" y="2535555"/>
            <a:ext cx="327850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en-US" sz="1600" i="1">
                <a:solidFill>
                  <a:srgbClr val="AD8555"/>
                </a:solidFill>
                <a:sym typeface="+mn-ea"/>
              </a:rPr>
              <a:t>CREATE TABLE Shows (</a:t>
            </a:r>
            <a:endParaRPr lang="en-US" altLang="en-US" sz="16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600" i="1">
                <a:solidFill>
                  <a:srgbClr val="AD8555"/>
                </a:solidFill>
                <a:sym typeface="+mn-ea"/>
              </a:rPr>
              <a:t>    ShowID INT PRIMARY KEY,</a:t>
            </a:r>
            <a:endParaRPr lang="en-US" altLang="en-US" sz="16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600" i="1">
                <a:solidFill>
                  <a:srgbClr val="AD8555"/>
                </a:solidFill>
                <a:sym typeface="+mn-ea"/>
              </a:rPr>
              <a:t>    MovieID INT,</a:t>
            </a:r>
            <a:endParaRPr lang="en-US" altLang="en-US" sz="16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600" i="1">
                <a:solidFill>
                  <a:srgbClr val="AD8555"/>
                </a:solidFill>
                <a:sym typeface="+mn-ea"/>
              </a:rPr>
              <a:t>    ShowDate DATE,</a:t>
            </a:r>
            <a:endParaRPr lang="en-US" altLang="en-US" sz="16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600" i="1">
                <a:solidFill>
                  <a:srgbClr val="AD8555"/>
                </a:solidFill>
                <a:sym typeface="+mn-ea"/>
              </a:rPr>
              <a:t>    ShowTime TIME,</a:t>
            </a:r>
            <a:endParaRPr lang="en-US" altLang="en-US" sz="16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600" i="1">
                <a:solidFill>
                  <a:srgbClr val="AD8555"/>
                </a:solidFill>
                <a:sym typeface="+mn-ea"/>
              </a:rPr>
              <a:t>    Theater VARCHAR(40),</a:t>
            </a:r>
            <a:endParaRPr lang="en-US" altLang="en-US" sz="16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600" i="1">
                <a:solidFill>
                  <a:srgbClr val="AD8555"/>
                </a:solidFill>
                <a:sym typeface="+mn-ea"/>
              </a:rPr>
              <a:t>    TotalSeats INT,</a:t>
            </a:r>
            <a:endParaRPr lang="en-US" altLang="en-US" sz="16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600" i="1">
                <a:solidFill>
                  <a:srgbClr val="AD8555"/>
                </a:solidFill>
                <a:sym typeface="+mn-ea"/>
              </a:rPr>
              <a:t>    FOREIGN KEY (MovieID) REFERENCES Movies(MovieID)</a:t>
            </a:r>
            <a:endParaRPr lang="en-US" altLang="en-US" sz="16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600" i="1">
                <a:solidFill>
                  <a:srgbClr val="AD8555"/>
                </a:solidFill>
                <a:sym typeface="+mn-ea"/>
              </a:rPr>
              <a:t>);</a:t>
            </a:r>
            <a:endParaRPr lang="en-US" altLang="en-US" sz="1600" i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966335" y="544830"/>
            <a:ext cx="3887470" cy="17542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INSERT INTO Shows VALUES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(201,101,'2023-02-01','18:00','PVR Mumbai',150),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(202,102,'2023-02-01','21:00','INOX Delhi',180),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(203,103,'2023-02-02','19:00','PVR Bangalore',200),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(204,104,'2023-02-02','20:00','PVR Hyderabad',170),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(205,105,'2023-02-03','18:30','INOX Pune',160),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(206,106,'2023-02-03','17:00','Cinepolis Delhi',140),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(207,107,'2023-02-04','21:00','PVR Chennai',200),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(208,108,'2023-02-04','19:30','PVR Kolkata',160),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(209,109,'2023-02-05','18:00','INOX Mumbai',150),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(210,110,'2023-02-05','20:00','PVR Bangalore',180),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(211,111,'2023-02-06','17:00','INOX Hyderabad',140),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(212,112,'2023-02-06','19:00','Sathyam Chennai',200),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(213,113,'2023-02-07','21:00','PVR Mumbai',170),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(214,114,'2023-02-07','18:00','INOX Pune',160),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(215,115,'2023-02-08','20:30','Cinepolis Delhi',150),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(216,116,'2023-02-08','19:00','PVR Bangalore',180),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(217,117,'2023-02-09','21:00','PVR Kolkata',200),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(218,118,'2023-02-09','18:00','INOX Chennai',160),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(219,119,'2023-02-10','20:00','Sathyam Chennai',150),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(220,120,'2023-02-10','17:30','PVR Mumbai',180),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(221,121,'2023-02-11','19:00','INOX Delhi',160),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(222,122,'2023-02-11','21:00','PVR Bangalore',150),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(223,123,'2023-02-12','18:00','Cinepolis Hyderabad',180),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(224,124,'2023-02-12','20:00','INOX Pune',160),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(225,125,'2023-02-13','17:00','Cinepolis Kolkata',150),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(226,126,'2023-02-13','19:30','PVR Chennai',180),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(227,127,'2023-02-14','21:00','PVR Hyderabad',200),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(228,128,'2023-02-14','19:00','PVR Mumbai',150),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(229,129,'2023-02-15','18:30','INOX Delhi',160),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(230,130,'2023-02-15','20:00','PVR Bangalore',200);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en-US" sz="900" b="1" i="1">
              <a:solidFill>
                <a:srgbClr val="AD8555"/>
              </a:solidFill>
              <a:sym typeface="+mn-ea"/>
            </a:endParaRPr>
          </a:p>
        </p:txBody>
      </p:sp>
      <p:pic>
        <p:nvPicPr>
          <p:cNvPr id="7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754380" y="905510"/>
            <a:ext cx="1865630" cy="15093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447040" y="394335"/>
            <a:ext cx="2354580" cy="503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b="1">
                <a:solidFill>
                  <a:srgbClr val="AD8555"/>
                </a:solidFill>
                <a:sym typeface="+mn-ea"/>
              </a:rPr>
              <a:t>TABLE </a:t>
            </a:r>
            <a:r>
              <a:rPr lang="en-IN" altLang="en-US" b="1">
                <a:solidFill>
                  <a:srgbClr val="AD8555"/>
                </a:solidFill>
                <a:sym typeface="+mn-ea"/>
              </a:rPr>
              <a:t>4</a:t>
            </a:r>
            <a:r>
              <a:rPr lang="en-US" altLang="en-US" b="1">
                <a:solidFill>
                  <a:srgbClr val="AD8555"/>
                </a:solidFill>
                <a:sym typeface="+mn-ea"/>
              </a:rPr>
              <a:t>:</a:t>
            </a:r>
            <a:r>
              <a:rPr lang="en-IN" altLang="en-US" b="1">
                <a:solidFill>
                  <a:srgbClr val="AD8555"/>
                </a:solidFill>
                <a:sym typeface="+mn-ea"/>
              </a:rPr>
              <a:t> Bookings</a:t>
            </a:r>
            <a:endParaRPr lang="en-US" altLang="en-US" b="1">
              <a:solidFill>
                <a:srgbClr val="AD8555"/>
              </a:solidFill>
            </a:endParaRPr>
          </a:p>
          <a:p>
            <a:endParaRPr lang="en-US"/>
          </a:p>
          <a:p>
            <a:pPr algn="l"/>
            <a:endParaRPr lang="en-US"/>
          </a:p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525780" y="2519680"/>
            <a:ext cx="2947035" cy="2327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1200" i="1">
                <a:solidFill>
                  <a:srgbClr val="AD8555"/>
                </a:solidFill>
                <a:sym typeface="+mn-ea"/>
              </a:rPr>
              <a:t>CREATE TABLE Bookings (</a:t>
            </a:r>
            <a:endParaRPr lang="en-US" altLang="en-US" sz="12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200" i="1">
                <a:solidFill>
                  <a:srgbClr val="AD8555"/>
                </a:solidFill>
                <a:sym typeface="+mn-ea"/>
              </a:rPr>
              <a:t>    BookingID INT PRIMARY KEY,</a:t>
            </a:r>
            <a:endParaRPr lang="en-US" altLang="en-US" sz="12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200" i="1">
                <a:solidFill>
                  <a:srgbClr val="AD8555"/>
                </a:solidFill>
                <a:sym typeface="+mn-ea"/>
              </a:rPr>
              <a:t>    UserID INT,</a:t>
            </a:r>
            <a:endParaRPr lang="en-US" altLang="en-US" sz="12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200" i="1">
                <a:solidFill>
                  <a:srgbClr val="AD8555"/>
                </a:solidFill>
                <a:sym typeface="+mn-ea"/>
              </a:rPr>
              <a:t>    ShowID INT,</a:t>
            </a:r>
            <a:endParaRPr lang="en-US" altLang="en-US" sz="12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200" i="1">
                <a:solidFill>
                  <a:srgbClr val="AD8555"/>
                </a:solidFill>
                <a:sym typeface="+mn-ea"/>
              </a:rPr>
              <a:t>    Tickets INT,</a:t>
            </a:r>
            <a:endParaRPr lang="en-US" altLang="en-US" sz="12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200" i="1">
                <a:solidFill>
                  <a:srgbClr val="AD8555"/>
                </a:solidFill>
                <a:sym typeface="+mn-ea"/>
              </a:rPr>
              <a:t>    BookingDate DATE,</a:t>
            </a:r>
            <a:endParaRPr lang="en-US" altLang="en-US" sz="12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200" i="1">
                <a:solidFill>
                  <a:srgbClr val="AD8555"/>
                </a:solidFill>
                <a:sym typeface="+mn-ea"/>
              </a:rPr>
              <a:t>    Amount INT,</a:t>
            </a:r>
            <a:endParaRPr lang="en-US" altLang="en-US" sz="12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200" i="1">
                <a:solidFill>
                  <a:srgbClr val="AD8555"/>
                </a:solidFill>
                <a:sym typeface="+mn-ea"/>
              </a:rPr>
              <a:t>    FOREIGN KEY (UserID) REFERENCES Users(UserID),</a:t>
            </a:r>
            <a:endParaRPr lang="en-US" altLang="en-US" sz="12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200" i="1">
                <a:solidFill>
                  <a:srgbClr val="AD8555"/>
                </a:solidFill>
                <a:sym typeface="+mn-ea"/>
              </a:rPr>
              <a:t>    FOREIGN KEY (ShowID) REFERENCES Shows(ShowID)</a:t>
            </a:r>
            <a:endParaRPr lang="en-US" altLang="en-US" sz="12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200" i="1">
                <a:solidFill>
                  <a:srgbClr val="AD8555"/>
                </a:solidFill>
                <a:sym typeface="+mn-ea"/>
              </a:rPr>
              <a:t>);</a:t>
            </a:r>
            <a:endParaRPr lang="en-US" altLang="en-US" sz="1200" i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432425" y="394335"/>
            <a:ext cx="2828925" cy="9232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INSERT INTO Bookings VALUES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(301,1,201,2,'2023-01-25',400),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(302,2,202,3,'2023-01-26',750),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(303,3,203,4,'2023-01-27',800),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(304,4,204,2,'2023-01-28',500),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(305,5,205,1,'2023-01-29',250),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(306,6,206,5,'2023-01-30',1000),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(307,7,207,3,'2023-01-31',750),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(308,8,208,2,'2023-02-01',500),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(309,9,209,3,'2023-02-01',750),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(310,10,210,2,'2023-02-02',600),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(311,11,211,4,'2023-02-02',800),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(312,12,212,3,'2023-02-03',900),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(313,13,213,1,'2023-02-03',250),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(314,14,214,2,'2023-02-04',500),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(315,15,215,3,'2023-02-04',750),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(316,16,216,4,'2023-02-05',900),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(317,17,217,2,'2023-02-05',600),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(318,18,218,3,'2023-02-06',750),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(319,19,219,1,'2023-02-06',250),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(320,20,220,5,'2023-02-07',1200),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(321,21,221,2,'2023-02-07',500),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(322,22,222,3,'2023-02-08',750),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(323,23,223,2,'2023-02-08',600),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(324,24,224,4,'2023-02-09',900),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(325,25,225,1,'2023-02-09',300),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(326,26,226,3,'2023-02-10',750),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(327,27,227,2,'2023-02-10',700),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(328,28,228,4,'2023-02-11',1000),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(329,29,229,3,'2023-02-11',750),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900" b="1" i="1">
                <a:solidFill>
                  <a:srgbClr val="AD8555"/>
                </a:solidFill>
                <a:sym typeface="+mn-ea"/>
              </a:rPr>
              <a:t>(330,30,230,2,'2023-02-12',600);</a:t>
            </a:r>
            <a:endParaRPr lang="en-US" altLang="en-US" sz="900" b="1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en-US" sz="900" b="1" i="1">
              <a:solidFill>
                <a:srgbClr val="AD8555"/>
              </a:solidFill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14095"/>
            <a:ext cx="2082165" cy="1275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98805" y="165735"/>
            <a:ext cx="2661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b="1">
                <a:solidFill>
                  <a:srgbClr val="AD8555"/>
                </a:solidFill>
              </a:rPr>
              <a:t>SQL QUERY ANALYSIS</a:t>
            </a:r>
            <a:endParaRPr lang="en-IN" altLang="en-US" b="1">
              <a:solidFill>
                <a:srgbClr val="AD8555"/>
              </a:solidFill>
            </a:endParaRPr>
          </a:p>
        </p:txBody>
      </p:sp>
      <p:graphicFrame>
        <p:nvGraphicFramePr>
          <p:cNvPr id="5" name="Table 4"/>
          <p:cNvGraphicFramePr/>
          <p:nvPr/>
        </p:nvGraphicFramePr>
        <p:xfrm>
          <a:off x="553085" y="652145"/>
          <a:ext cx="8037195" cy="4191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82905"/>
                <a:gridCol w="2625090"/>
                <a:gridCol w="2037080"/>
                <a:gridCol w="2992120"/>
              </a:tblGrid>
              <a:tr h="381000">
                <a:tc>
                  <a:txBody>
                    <a:bodyPr/>
                    <a:p>
                      <a:r>
                        <a:rPr sz="1100"/>
                        <a:t>No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1100"/>
                        <a:t>Focus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1100"/>
                        <a:t>SQL Use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1100"/>
                        <a:t>Business Value</a:t>
                      </a:r>
                      <a:endParaRPr sz="1100"/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sz="1100"/>
                        <a:t>1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1100"/>
                        <a:t>Total Revenue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1100"/>
                        <a:t>SUM()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1100"/>
                        <a:t>Measures overall platform performance</a:t>
                      </a:r>
                      <a:endParaRPr sz="1100"/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sz="1100"/>
                        <a:t>2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1100"/>
                        <a:t>City-wise Revenue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1100"/>
                        <a:t>JOIN + SUM() + GROUP BY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1100"/>
                        <a:t>Location-based revenue insights</a:t>
                      </a:r>
                      <a:endParaRPr sz="1100"/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sz="1100"/>
                        <a:t>3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1100"/>
                        <a:t>Movie Language Popularity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1100"/>
                        <a:t>GROUP BY + COUNT()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1100"/>
                        <a:t>Understands audience language preference</a:t>
                      </a:r>
                      <a:endParaRPr sz="1100"/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sz="1100"/>
                        <a:t>4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1100"/>
                        <a:t>Top 5 Revenue-Generating Movies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1100"/>
                        <a:t>JOIN + SUM() + GROUP BY + ORDER BY + LIMIT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1100"/>
                        <a:t>Identifies blockbuster movies</a:t>
                      </a:r>
                      <a:endParaRPr sz="1100"/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sz="1100"/>
                        <a:t>5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1100"/>
                        <a:t>Weekend vs Weekday Revenue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sz="1100"/>
                        <a:t> IF</a:t>
                      </a:r>
                      <a:r>
                        <a:rPr sz="1100"/>
                        <a:t> + DATE functions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1100"/>
                        <a:t>Demand &amp; pricing optimization</a:t>
                      </a:r>
                      <a:endParaRPr sz="1100"/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sz="1100"/>
                        <a:t>6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1100"/>
                        <a:t>Average Tickets per Booking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1100"/>
                        <a:t>AVG()</a:t>
                      </a:r>
                      <a:r>
                        <a:rPr lang="en-US" sz="1100"/>
                        <a:t>+COUNT+IF</a:t>
                      </a:r>
                      <a:endParaRPr 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1100"/>
                        <a:t>Analyzes solo vs group booking behavior</a:t>
                      </a:r>
                      <a:endParaRPr sz="1100"/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sz="1100"/>
                        <a:t>7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1100"/>
                        <a:t>Popular Show Timings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1100"/>
                        <a:t>JOIN + COUNT() + GROUP BY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1100"/>
                        <a:t>Optimal show scheduling</a:t>
                      </a:r>
                      <a:endParaRPr sz="1100"/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sz="1100"/>
                        <a:t>8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1100"/>
                        <a:t>Theater-wise Revenue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1100"/>
                        <a:t>JOIN + SUM() + GROUP BY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1100"/>
                        <a:t>Theater performance evaluation</a:t>
                      </a:r>
                      <a:endParaRPr sz="1100"/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sz="1100"/>
                        <a:t>9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1100"/>
                        <a:t>Daily Revenue Trend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1100"/>
                        <a:t>GROUP BY + DATE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1100"/>
                        <a:t>Tracks revenue fluctuations over time</a:t>
                      </a:r>
                      <a:endParaRPr sz="1100"/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sz="1100"/>
                        <a:t>10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1100"/>
                        <a:t>Theater with Highest Ticket Sales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1100"/>
                        <a:t>JOIN + SUM() + GROUP BY + ORDER BY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1100"/>
                        <a:t>Identifies top-performing theaters</a:t>
                      </a:r>
                      <a:endParaRPr sz="11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97180" y="299720"/>
            <a:ext cx="2022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rgbClr val="AD8555"/>
                </a:solidFill>
              </a:rPr>
              <a:t>QUERY-1</a:t>
            </a:r>
            <a:endParaRPr lang="en-US" b="1">
              <a:solidFill>
                <a:srgbClr val="AD8555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203190" y="805180"/>
            <a:ext cx="189865" cy="3812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cxnSp>
        <p:nvCxnSpPr>
          <p:cNvPr id="4" name="Straight Connector 3"/>
          <p:cNvCxnSpPr>
            <a:stCxn id="3" idx="0"/>
            <a:endCxn id="3" idx="2"/>
          </p:cNvCxnSpPr>
          <p:nvPr/>
        </p:nvCxnSpPr>
        <p:spPr>
          <a:xfrm>
            <a:off x="5298440" y="805180"/>
            <a:ext cx="0" cy="38125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Text Box 4"/>
          <p:cNvSpPr txBox="1"/>
          <p:nvPr/>
        </p:nvSpPr>
        <p:spPr>
          <a:xfrm>
            <a:off x="297180" y="805180"/>
            <a:ext cx="2339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b="1">
                <a:solidFill>
                  <a:srgbClr val="AD8555"/>
                </a:solidFill>
                <a:sym typeface="+mn-ea"/>
              </a:rPr>
              <a:t>Total Revenue</a:t>
            </a:r>
            <a:endParaRPr 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97180" y="1310640"/>
            <a:ext cx="4572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600" i="1">
                <a:solidFill>
                  <a:srgbClr val="AD8555"/>
                </a:solidFill>
              </a:rPr>
              <a:t>SELECT SUM(Amount) AS Total_Revenue</a:t>
            </a:r>
            <a:endParaRPr lang="en-US" altLang="en-US" sz="1600" i="1">
              <a:solidFill>
                <a:srgbClr val="AD8555"/>
              </a:solidFill>
            </a:endParaRPr>
          </a:p>
          <a:p>
            <a:r>
              <a:rPr lang="en-US" altLang="en-US" sz="1600" i="1">
                <a:solidFill>
                  <a:srgbClr val="AD8555"/>
                </a:solidFill>
              </a:rPr>
              <a:t>FROM Bookings;</a:t>
            </a:r>
            <a:endParaRPr lang="en-US" altLang="en-US" sz="1600" i="1">
              <a:solidFill>
                <a:srgbClr val="AD8555"/>
              </a:solidFill>
            </a:endParaRPr>
          </a:p>
          <a:p>
            <a:endParaRPr lang="en-US" altLang="en-US" sz="1600" i="1">
              <a:solidFill>
                <a:srgbClr val="AD8555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97180" y="2487295"/>
            <a:ext cx="502094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sz="1400" i="1">
                <a:solidFill>
                  <a:srgbClr val="AD8555"/>
                </a:solidFill>
                <a:sym typeface="+mn-ea"/>
              </a:rPr>
              <a:t>Calculates total income generated from all ticket bookings.</a:t>
            </a:r>
            <a:endParaRPr lang="en-US" sz="14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sz="14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sz="1400" i="1">
                <a:solidFill>
                  <a:srgbClr val="AD8555"/>
                </a:solidFill>
                <a:sym typeface="+mn-ea"/>
              </a:rPr>
              <a:t>Helps measure overall platform performance.</a:t>
            </a:r>
            <a:endParaRPr lang="en-US" sz="14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sz="14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sz="1400" i="1">
                <a:solidFill>
                  <a:srgbClr val="AD8555"/>
                </a:solidFill>
                <a:sym typeface="+mn-ea"/>
              </a:rPr>
              <a:t>Used to track business growth and profitability.</a:t>
            </a:r>
            <a:endParaRPr lang="en-US" sz="1400" i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297180" y="2002155"/>
            <a:ext cx="1950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b="1">
                <a:solidFill>
                  <a:srgbClr val="AD8555"/>
                </a:solidFill>
                <a:sym typeface="+mn-ea"/>
              </a:rPr>
              <a:t>Explanation</a:t>
            </a:r>
            <a:endParaRPr 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294005" y="3927475"/>
            <a:ext cx="1655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b="1">
                <a:solidFill>
                  <a:srgbClr val="AD8555"/>
                </a:solidFill>
                <a:sym typeface="+mn-ea"/>
              </a:rPr>
              <a:t>Insight</a:t>
            </a:r>
            <a:endParaRPr 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294005" y="4389120"/>
            <a:ext cx="46793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sz="1400" i="1">
                <a:solidFill>
                  <a:srgbClr val="AD8555"/>
                </a:solidFill>
                <a:sym typeface="+mn-ea"/>
              </a:rPr>
              <a:t>Shows the overall financial performance of the online movie ticket booking platform.</a:t>
            </a:r>
            <a:endParaRPr lang="en-US" sz="1400" i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5920105" y="942340"/>
            <a:ext cx="1727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b="1">
                <a:solidFill>
                  <a:srgbClr val="AD8555"/>
                </a:solidFill>
                <a:sym typeface="+mn-ea"/>
              </a:rPr>
              <a:t>Output</a:t>
            </a:r>
            <a:endParaRPr lang="en-US" b="1">
              <a:solidFill>
                <a:srgbClr val="AD8555"/>
              </a:solidFill>
              <a:sym typeface="+mn-ea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0645" y="1662430"/>
            <a:ext cx="1447800" cy="11823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97180" y="299720"/>
            <a:ext cx="2022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rgbClr val="AD8555"/>
                </a:solidFill>
              </a:rPr>
              <a:t>QUERY-2</a:t>
            </a:r>
            <a:endParaRPr lang="en-US" b="1">
              <a:solidFill>
                <a:srgbClr val="AD8555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203190" y="805180"/>
            <a:ext cx="189865" cy="3812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cxnSp>
        <p:nvCxnSpPr>
          <p:cNvPr id="6" name="Straight Connector 5"/>
          <p:cNvCxnSpPr>
            <a:stCxn id="5" idx="0"/>
            <a:endCxn id="5" idx="2"/>
          </p:cNvCxnSpPr>
          <p:nvPr/>
        </p:nvCxnSpPr>
        <p:spPr>
          <a:xfrm>
            <a:off x="5298440" y="805180"/>
            <a:ext cx="0" cy="38125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Text Box 6"/>
          <p:cNvSpPr txBox="1"/>
          <p:nvPr/>
        </p:nvSpPr>
        <p:spPr>
          <a:xfrm>
            <a:off x="297180" y="805180"/>
            <a:ext cx="2339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en-US" b="1">
                <a:solidFill>
                  <a:srgbClr val="AD8555"/>
                </a:solidFill>
                <a:sym typeface="+mn-ea"/>
              </a:rPr>
              <a:t>City-wise Revenue</a:t>
            </a:r>
            <a:endParaRPr lang="en-US" alt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294005" y="1310640"/>
            <a:ext cx="4572000" cy="13131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1600">
                <a:solidFill>
                  <a:srgbClr val="AD8555"/>
                </a:solidFill>
              </a:rPr>
              <a:t>SELECT u.City, SUM(b.Amount) AS Revenue</a:t>
            </a:r>
            <a:endParaRPr lang="en-US" altLang="en-US" sz="1600">
              <a:solidFill>
                <a:srgbClr val="AD8555"/>
              </a:solidFill>
            </a:endParaRPr>
          </a:p>
          <a:p>
            <a:r>
              <a:rPr lang="en-US" altLang="en-US" sz="1600">
                <a:solidFill>
                  <a:srgbClr val="AD8555"/>
                </a:solidFill>
              </a:rPr>
              <a:t>FROM Users u</a:t>
            </a:r>
            <a:endParaRPr lang="en-US" altLang="en-US" sz="1600">
              <a:solidFill>
                <a:srgbClr val="AD8555"/>
              </a:solidFill>
            </a:endParaRPr>
          </a:p>
          <a:p>
            <a:r>
              <a:rPr lang="en-US" altLang="en-US" sz="1600">
                <a:solidFill>
                  <a:srgbClr val="AD8555"/>
                </a:solidFill>
              </a:rPr>
              <a:t>JOIN Bookings b ON u.UserID = b.UserID</a:t>
            </a:r>
            <a:endParaRPr lang="en-US" altLang="en-US" sz="1600">
              <a:solidFill>
                <a:srgbClr val="AD8555"/>
              </a:solidFill>
            </a:endParaRPr>
          </a:p>
          <a:p>
            <a:r>
              <a:rPr lang="en-US" altLang="en-US" sz="1600">
                <a:solidFill>
                  <a:srgbClr val="AD8555"/>
                </a:solidFill>
              </a:rPr>
              <a:t>GROUP BY u.City;</a:t>
            </a:r>
            <a:endParaRPr lang="en-US" altLang="en-US" sz="1600">
              <a:solidFill>
                <a:srgbClr val="AD8555"/>
              </a:solidFill>
            </a:endParaRPr>
          </a:p>
          <a:p>
            <a:endParaRPr lang="en-US" altLang="en-US" sz="1600">
              <a:solidFill>
                <a:srgbClr val="AD8555"/>
              </a:solidFill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297180" y="2352675"/>
            <a:ext cx="1950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b="1">
                <a:solidFill>
                  <a:srgbClr val="AD8555"/>
                </a:solidFill>
                <a:sym typeface="+mn-ea"/>
              </a:rPr>
              <a:t>Explanation</a:t>
            </a:r>
            <a:endParaRPr 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349885" y="3720465"/>
            <a:ext cx="1655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b="1">
                <a:solidFill>
                  <a:srgbClr val="AD8555"/>
                </a:solidFill>
                <a:sym typeface="+mn-ea"/>
              </a:rPr>
              <a:t>Insight</a:t>
            </a:r>
            <a:endParaRPr 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294005" y="4182110"/>
            <a:ext cx="46793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en-US" sz="1400" i="1">
                <a:solidFill>
                  <a:srgbClr val="AD8555"/>
                </a:solidFill>
                <a:sym typeface="+mn-ea"/>
              </a:rPr>
              <a:t>Highlights cities contributing the most to ticket sales revenue.</a:t>
            </a:r>
            <a:endParaRPr lang="en-US" altLang="en-US" sz="1400" i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5730875" y="942340"/>
            <a:ext cx="1727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b="1">
                <a:solidFill>
                  <a:srgbClr val="AD8555"/>
                </a:solidFill>
                <a:sym typeface="+mn-ea"/>
              </a:rPr>
              <a:t>Output</a:t>
            </a:r>
            <a:endParaRPr 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297180" y="2781935"/>
            <a:ext cx="4453255" cy="987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1600" i="1">
                <a:solidFill>
                  <a:srgbClr val="AD8555"/>
                </a:solidFill>
                <a:sym typeface="+mn-ea"/>
              </a:rPr>
              <a:t>Analyzes revenue contribution by city.</a:t>
            </a:r>
            <a:endParaRPr lang="en-US" altLang="en-US" sz="16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en-US" sz="16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600" i="1">
                <a:solidFill>
                  <a:srgbClr val="AD8555"/>
                </a:solidFill>
                <a:sym typeface="+mn-ea"/>
              </a:rPr>
              <a:t>Highlights high-performing locations</a:t>
            </a:r>
            <a:endParaRPr lang="en-US" altLang="en-US" sz="1600" i="1">
              <a:solidFill>
                <a:srgbClr val="AD8555"/>
              </a:solidFill>
              <a:sym typeface="+mn-ea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0105" y="1760220"/>
            <a:ext cx="1857375" cy="15525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25755" y="288290"/>
            <a:ext cx="2022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rgbClr val="AD8555"/>
                </a:solidFill>
              </a:rPr>
              <a:t>QUERY-3</a:t>
            </a:r>
            <a:endParaRPr lang="en-US" b="1">
              <a:solidFill>
                <a:srgbClr val="AD8555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203190" y="793750"/>
            <a:ext cx="189865" cy="3812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cxnSp>
        <p:nvCxnSpPr>
          <p:cNvPr id="6" name="Straight Connector 5"/>
          <p:cNvCxnSpPr>
            <a:stCxn id="5" idx="0"/>
            <a:endCxn id="5" idx="2"/>
          </p:cNvCxnSpPr>
          <p:nvPr/>
        </p:nvCxnSpPr>
        <p:spPr>
          <a:xfrm>
            <a:off x="5298440" y="793750"/>
            <a:ext cx="0" cy="38125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Text Box 6"/>
          <p:cNvSpPr txBox="1"/>
          <p:nvPr/>
        </p:nvSpPr>
        <p:spPr>
          <a:xfrm>
            <a:off x="325755" y="793750"/>
            <a:ext cx="4624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en-US" b="1">
                <a:solidFill>
                  <a:srgbClr val="AD8555"/>
                </a:solidFill>
                <a:sym typeface="+mn-ea"/>
              </a:rPr>
              <a:t>Movie Language Popularity</a:t>
            </a:r>
            <a:endParaRPr lang="en-US" alt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14325" y="1275715"/>
            <a:ext cx="4572000" cy="9201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1400">
                <a:solidFill>
                  <a:srgbClr val="AD8555"/>
                </a:solidFill>
              </a:rPr>
              <a:t>SELECT Language, COUNT(*) AS Movie_Count</a:t>
            </a:r>
            <a:endParaRPr lang="en-US" altLang="en-US" sz="1400">
              <a:solidFill>
                <a:srgbClr val="AD8555"/>
              </a:solidFill>
            </a:endParaRPr>
          </a:p>
          <a:p>
            <a:r>
              <a:rPr lang="en-US" altLang="en-US" sz="1400">
                <a:solidFill>
                  <a:srgbClr val="AD8555"/>
                </a:solidFill>
              </a:rPr>
              <a:t>FROM Movies</a:t>
            </a:r>
            <a:endParaRPr lang="en-US" altLang="en-US" sz="1400">
              <a:solidFill>
                <a:srgbClr val="AD8555"/>
              </a:solidFill>
            </a:endParaRPr>
          </a:p>
          <a:p>
            <a:r>
              <a:rPr lang="en-US" altLang="en-US" sz="1400">
                <a:solidFill>
                  <a:srgbClr val="AD8555"/>
                </a:solidFill>
              </a:rPr>
              <a:t>GROUP BY Language;</a:t>
            </a:r>
            <a:endParaRPr lang="en-US" altLang="en-US" sz="1400">
              <a:solidFill>
                <a:srgbClr val="AD8555"/>
              </a:solidFill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325755" y="2181225"/>
            <a:ext cx="1950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b="1">
                <a:solidFill>
                  <a:srgbClr val="AD8555"/>
                </a:solidFill>
                <a:sym typeface="+mn-ea"/>
              </a:rPr>
              <a:t>Explanation</a:t>
            </a:r>
            <a:endParaRPr 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325755" y="3568700"/>
            <a:ext cx="1655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b="1">
                <a:solidFill>
                  <a:srgbClr val="AD8555"/>
                </a:solidFill>
                <a:sym typeface="+mn-ea"/>
              </a:rPr>
              <a:t>Insight</a:t>
            </a:r>
            <a:endParaRPr 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5730875" y="930910"/>
            <a:ext cx="1727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b="1">
                <a:solidFill>
                  <a:srgbClr val="AD8555"/>
                </a:solidFill>
                <a:sym typeface="+mn-ea"/>
              </a:rPr>
              <a:t>Output</a:t>
            </a:r>
            <a:endParaRPr 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314325" y="2665730"/>
            <a:ext cx="4771390" cy="1048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1400" i="1">
                <a:solidFill>
                  <a:srgbClr val="AD8555"/>
                </a:solidFill>
                <a:sym typeface="+mn-ea"/>
              </a:rPr>
              <a:t>Shows audience preference by language.</a:t>
            </a:r>
            <a:endParaRPr lang="en-US" altLang="en-US" sz="14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en-US" sz="14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400" i="1">
                <a:solidFill>
                  <a:srgbClr val="AD8555"/>
                </a:solidFill>
                <a:sym typeface="+mn-ea"/>
              </a:rPr>
              <a:t>Supports language-based content planning.</a:t>
            </a:r>
            <a:endParaRPr lang="en-US" altLang="en-US" sz="1400" i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25755" y="4074160"/>
            <a:ext cx="48780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400">
                <a:solidFill>
                  <a:srgbClr val="AD8555"/>
                </a:solidFill>
              </a:rPr>
              <a:t>Languages with higher movie counts indicate stronger audience preference and demand.</a:t>
            </a:r>
            <a:endParaRPr lang="en-US" altLang="en-US" sz="1400">
              <a:solidFill>
                <a:srgbClr val="AD8555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4735" y="1615440"/>
            <a:ext cx="1545590" cy="9563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97180" y="299720"/>
            <a:ext cx="2022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rgbClr val="AD8555"/>
                </a:solidFill>
              </a:rPr>
              <a:t>QUERY-4</a:t>
            </a:r>
            <a:endParaRPr lang="en-US" b="1">
              <a:solidFill>
                <a:srgbClr val="AD8555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203190" y="805180"/>
            <a:ext cx="189865" cy="3812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cxnSp>
        <p:nvCxnSpPr>
          <p:cNvPr id="6" name="Straight Connector 5"/>
          <p:cNvCxnSpPr>
            <a:stCxn id="5" idx="0"/>
            <a:endCxn id="5" idx="2"/>
          </p:cNvCxnSpPr>
          <p:nvPr/>
        </p:nvCxnSpPr>
        <p:spPr>
          <a:xfrm>
            <a:off x="5298440" y="805180"/>
            <a:ext cx="0" cy="38125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Text Box 6"/>
          <p:cNvSpPr txBox="1"/>
          <p:nvPr/>
        </p:nvSpPr>
        <p:spPr>
          <a:xfrm>
            <a:off x="294005" y="805180"/>
            <a:ext cx="4624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en-US" b="1">
                <a:solidFill>
                  <a:srgbClr val="AD8555"/>
                </a:solidFill>
                <a:sym typeface="+mn-ea"/>
              </a:rPr>
              <a:t>Top 5 Revenue-Generating Movies</a:t>
            </a:r>
            <a:endParaRPr lang="en-US" alt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294005" y="1310640"/>
            <a:ext cx="4572000" cy="15995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1400">
                <a:solidFill>
                  <a:srgbClr val="AD8555"/>
                </a:solidFill>
              </a:rPr>
              <a:t>SELECT m.MovieName, SUM(b.Amount) AS Revenue</a:t>
            </a:r>
            <a:endParaRPr lang="en-US" altLang="en-US" sz="1400">
              <a:solidFill>
                <a:srgbClr val="AD8555"/>
              </a:solidFill>
            </a:endParaRPr>
          </a:p>
          <a:p>
            <a:r>
              <a:rPr lang="en-US" altLang="en-US" sz="1400">
                <a:solidFill>
                  <a:srgbClr val="AD8555"/>
                </a:solidFill>
              </a:rPr>
              <a:t>FROM Movies m</a:t>
            </a:r>
            <a:endParaRPr lang="en-US" altLang="en-US" sz="1400">
              <a:solidFill>
                <a:srgbClr val="AD8555"/>
              </a:solidFill>
            </a:endParaRPr>
          </a:p>
          <a:p>
            <a:r>
              <a:rPr lang="en-US" altLang="en-US" sz="1400">
                <a:solidFill>
                  <a:srgbClr val="AD8555"/>
                </a:solidFill>
              </a:rPr>
              <a:t>JOIN Shows s ON m.MovieID = s.MovieID</a:t>
            </a:r>
            <a:endParaRPr lang="en-US" altLang="en-US" sz="1400">
              <a:solidFill>
                <a:srgbClr val="AD8555"/>
              </a:solidFill>
            </a:endParaRPr>
          </a:p>
          <a:p>
            <a:r>
              <a:rPr lang="en-US" altLang="en-US" sz="1400">
                <a:solidFill>
                  <a:srgbClr val="AD8555"/>
                </a:solidFill>
              </a:rPr>
              <a:t>JOIN Bookings b ON s.ShowID = b.ShowID</a:t>
            </a:r>
            <a:endParaRPr lang="en-US" altLang="en-US" sz="1400">
              <a:solidFill>
                <a:srgbClr val="AD8555"/>
              </a:solidFill>
            </a:endParaRPr>
          </a:p>
          <a:p>
            <a:r>
              <a:rPr lang="en-US" altLang="en-US" sz="1400">
                <a:solidFill>
                  <a:srgbClr val="AD8555"/>
                </a:solidFill>
              </a:rPr>
              <a:t>GROUP BY m.MovieName</a:t>
            </a:r>
            <a:endParaRPr lang="en-US" altLang="en-US" sz="1400">
              <a:solidFill>
                <a:srgbClr val="AD8555"/>
              </a:solidFill>
            </a:endParaRPr>
          </a:p>
          <a:p>
            <a:r>
              <a:rPr lang="en-US" altLang="en-US" sz="1400">
                <a:solidFill>
                  <a:srgbClr val="AD8555"/>
                </a:solidFill>
              </a:rPr>
              <a:t>ORDER BY Revenue DESC</a:t>
            </a:r>
            <a:endParaRPr lang="en-US" altLang="en-US" sz="1400">
              <a:solidFill>
                <a:srgbClr val="AD8555"/>
              </a:solidFill>
            </a:endParaRPr>
          </a:p>
          <a:p>
            <a:r>
              <a:rPr lang="en-US" altLang="en-US" sz="1400">
                <a:solidFill>
                  <a:srgbClr val="AD8555"/>
                </a:solidFill>
              </a:rPr>
              <a:t>LIMIT 5;</a:t>
            </a:r>
            <a:endParaRPr lang="en-US" altLang="en-US" sz="1400">
              <a:solidFill>
                <a:srgbClr val="AD8555"/>
              </a:solidFill>
            </a:endParaRPr>
          </a:p>
          <a:p>
            <a:endParaRPr lang="en-US" altLang="en-US" sz="1400">
              <a:solidFill>
                <a:srgbClr val="AD8555"/>
              </a:solidFill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294005" y="2854325"/>
            <a:ext cx="1950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b="1">
                <a:solidFill>
                  <a:srgbClr val="AD8555"/>
                </a:solidFill>
                <a:sym typeface="+mn-ea"/>
              </a:rPr>
              <a:t>Explanation</a:t>
            </a:r>
            <a:endParaRPr 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294005" y="3931285"/>
            <a:ext cx="1655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b="1">
                <a:solidFill>
                  <a:srgbClr val="AD8555"/>
                </a:solidFill>
                <a:sym typeface="+mn-ea"/>
              </a:rPr>
              <a:t>Insight</a:t>
            </a:r>
            <a:endParaRPr 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5730875" y="942340"/>
            <a:ext cx="1727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b="1">
                <a:solidFill>
                  <a:srgbClr val="AD8555"/>
                </a:solidFill>
                <a:sym typeface="+mn-ea"/>
              </a:rPr>
              <a:t>Output</a:t>
            </a:r>
            <a:endParaRPr 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297180" y="3312795"/>
            <a:ext cx="4453255" cy="726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1200" i="1">
                <a:solidFill>
                  <a:srgbClr val="AD8555"/>
                </a:solidFill>
                <a:sym typeface="+mn-ea"/>
              </a:rPr>
              <a:t>Finds top 5 movies generating maximum revenue.</a:t>
            </a:r>
            <a:endParaRPr lang="en-US" altLang="en-US" sz="12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en-US" sz="12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200" i="1">
                <a:solidFill>
                  <a:srgbClr val="AD8555"/>
                </a:solidFill>
                <a:sym typeface="+mn-ea"/>
              </a:rPr>
              <a:t>Shows revenue concentration around blockbusters.</a:t>
            </a:r>
            <a:endParaRPr lang="en-US" altLang="en-US" sz="1200" i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25755" y="4404995"/>
            <a:ext cx="48780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200">
                <a:solidFill>
                  <a:srgbClr val="AD8555"/>
                </a:solidFill>
              </a:rPr>
              <a:t>Shows which movies generate the highest share of total revenue.</a:t>
            </a:r>
            <a:endParaRPr lang="en-US" altLang="en-US" sz="1200">
              <a:solidFill>
                <a:srgbClr val="AD8555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6795" y="1663065"/>
            <a:ext cx="15621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25755" y="299720"/>
            <a:ext cx="2022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rgbClr val="AD8555"/>
                </a:solidFill>
              </a:rPr>
              <a:t>QUERY-5</a:t>
            </a:r>
            <a:endParaRPr lang="en-US" b="1">
              <a:solidFill>
                <a:srgbClr val="AD8555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203190" y="805180"/>
            <a:ext cx="189865" cy="3812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cxnSp>
        <p:nvCxnSpPr>
          <p:cNvPr id="6" name="Straight Connector 5"/>
          <p:cNvCxnSpPr>
            <a:stCxn id="5" idx="0"/>
            <a:endCxn id="5" idx="2"/>
          </p:cNvCxnSpPr>
          <p:nvPr/>
        </p:nvCxnSpPr>
        <p:spPr>
          <a:xfrm>
            <a:off x="5298440" y="805180"/>
            <a:ext cx="0" cy="38125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Text Box 6"/>
          <p:cNvSpPr txBox="1"/>
          <p:nvPr/>
        </p:nvSpPr>
        <p:spPr>
          <a:xfrm>
            <a:off x="325755" y="805180"/>
            <a:ext cx="4624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en-US" b="1">
                <a:solidFill>
                  <a:srgbClr val="AD8555"/>
                </a:solidFill>
                <a:sym typeface="+mn-ea"/>
              </a:rPr>
              <a:t>Weekend vs Weekday Revenue</a:t>
            </a:r>
            <a:endParaRPr lang="en-US" alt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294005" y="1238885"/>
            <a:ext cx="4572000" cy="14884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1400">
                <a:solidFill>
                  <a:srgbClr val="AD8555"/>
                </a:solidFill>
              </a:rPr>
              <a:t>SELECT </a:t>
            </a:r>
            <a:endParaRPr lang="en-US" altLang="en-US" sz="1400">
              <a:solidFill>
                <a:srgbClr val="AD8555"/>
              </a:solidFill>
            </a:endParaRPr>
          </a:p>
          <a:p>
            <a:r>
              <a:rPr lang="en-US" altLang="en-US" sz="1400">
                <a:solidFill>
                  <a:srgbClr val="AD8555"/>
                </a:solidFill>
              </a:rPr>
              <a:t>  IF(DAYOFWEEK(BookingDate) IN (1,7), 'Weekend', 'Weekday') AS Day_Type,</a:t>
            </a:r>
            <a:endParaRPr lang="en-US" altLang="en-US" sz="1400">
              <a:solidFill>
                <a:srgbClr val="AD8555"/>
              </a:solidFill>
            </a:endParaRPr>
          </a:p>
          <a:p>
            <a:r>
              <a:rPr lang="en-US" altLang="en-US" sz="1400">
                <a:solidFill>
                  <a:srgbClr val="AD8555"/>
                </a:solidFill>
              </a:rPr>
              <a:t>  SUM(Amount) AS Revenue</a:t>
            </a:r>
            <a:endParaRPr lang="en-US" altLang="en-US" sz="1400">
              <a:solidFill>
                <a:srgbClr val="AD8555"/>
              </a:solidFill>
            </a:endParaRPr>
          </a:p>
          <a:p>
            <a:r>
              <a:rPr lang="en-US" altLang="en-US" sz="1400">
                <a:solidFill>
                  <a:srgbClr val="AD8555"/>
                </a:solidFill>
              </a:rPr>
              <a:t>FROM Bookings</a:t>
            </a:r>
            <a:endParaRPr lang="en-US" altLang="en-US" sz="1400">
              <a:solidFill>
                <a:srgbClr val="AD8555"/>
              </a:solidFill>
            </a:endParaRPr>
          </a:p>
          <a:p>
            <a:r>
              <a:rPr lang="en-US" altLang="en-US" sz="1400">
                <a:solidFill>
                  <a:srgbClr val="AD8555"/>
                </a:solidFill>
              </a:rPr>
              <a:t>GROUP BY Day_Type;</a:t>
            </a:r>
            <a:endParaRPr lang="en-US" altLang="en-US" sz="1400">
              <a:solidFill>
                <a:srgbClr val="AD8555"/>
              </a:solidFill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294005" y="2888615"/>
            <a:ext cx="1950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b="1">
                <a:solidFill>
                  <a:srgbClr val="AD8555"/>
                </a:solidFill>
                <a:sym typeface="+mn-ea"/>
              </a:rPr>
              <a:t>Explanation</a:t>
            </a:r>
            <a:endParaRPr 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294005" y="3931285"/>
            <a:ext cx="1655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b="1">
                <a:solidFill>
                  <a:srgbClr val="AD8555"/>
                </a:solidFill>
                <a:sym typeface="+mn-ea"/>
              </a:rPr>
              <a:t>Insight</a:t>
            </a:r>
            <a:endParaRPr 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5730875" y="942340"/>
            <a:ext cx="1727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b="1">
                <a:solidFill>
                  <a:srgbClr val="AD8555"/>
                </a:solidFill>
                <a:sym typeface="+mn-ea"/>
              </a:rPr>
              <a:t>Output</a:t>
            </a:r>
            <a:endParaRPr 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325755" y="3256915"/>
            <a:ext cx="4453255" cy="775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1200" i="1">
                <a:solidFill>
                  <a:srgbClr val="AD8555"/>
                </a:solidFill>
                <a:sym typeface="+mn-ea"/>
              </a:rPr>
              <a:t>Compares revenue on weekends and weekdays.</a:t>
            </a:r>
            <a:endParaRPr lang="en-US" altLang="en-US" sz="12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en-US" sz="12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200" i="1">
                <a:solidFill>
                  <a:srgbClr val="AD8555"/>
                </a:solidFill>
                <a:sym typeface="+mn-ea"/>
              </a:rPr>
              <a:t>Reveals peak demand days</a:t>
            </a:r>
            <a:endParaRPr lang="en-US" altLang="en-US" sz="1200" i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25755" y="4404995"/>
            <a:ext cx="48780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200">
                <a:solidFill>
                  <a:srgbClr val="AD8555"/>
                </a:solidFill>
              </a:rPr>
              <a:t>Reveals higher booking demand during weekends compared to weekdays.</a:t>
            </a:r>
            <a:endParaRPr lang="en-US" altLang="en-US" sz="1200">
              <a:solidFill>
                <a:srgbClr val="AD8555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9795" y="1741805"/>
            <a:ext cx="2245995" cy="16598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25755" y="299720"/>
            <a:ext cx="2022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rgbClr val="AD8555"/>
                </a:solidFill>
              </a:rPr>
              <a:t>QUERY-6</a:t>
            </a:r>
            <a:endParaRPr lang="en-US" b="1">
              <a:solidFill>
                <a:srgbClr val="AD8555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203190" y="805180"/>
            <a:ext cx="189865" cy="3812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cxnSp>
        <p:nvCxnSpPr>
          <p:cNvPr id="6" name="Straight Connector 5"/>
          <p:cNvCxnSpPr>
            <a:stCxn id="5" idx="0"/>
            <a:endCxn id="5" idx="2"/>
          </p:cNvCxnSpPr>
          <p:nvPr/>
        </p:nvCxnSpPr>
        <p:spPr>
          <a:xfrm>
            <a:off x="5298440" y="805180"/>
            <a:ext cx="0" cy="38125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Text Box 6"/>
          <p:cNvSpPr txBox="1"/>
          <p:nvPr/>
        </p:nvSpPr>
        <p:spPr>
          <a:xfrm>
            <a:off x="325755" y="805180"/>
            <a:ext cx="4624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en-US" b="1">
                <a:solidFill>
                  <a:srgbClr val="AD8555"/>
                </a:solidFill>
                <a:sym typeface="+mn-ea"/>
              </a:rPr>
              <a:t>Average Tickets per Booking</a:t>
            </a:r>
            <a:endParaRPr lang="en-US" alt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14325" y="1287145"/>
            <a:ext cx="4572000" cy="14376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1200">
                <a:solidFill>
                  <a:srgbClr val="AD8555"/>
                </a:solidFill>
              </a:rPr>
              <a:t>SELECT</a:t>
            </a:r>
            <a:endParaRPr lang="en-US" altLang="en-US" sz="1200">
              <a:solidFill>
                <a:srgbClr val="AD8555"/>
              </a:solidFill>
            </a:endParaRPr>
          </a:p>
          <a:p>
            <a:r>
              <a:rPr lang="en-US" altLang="en-US" sz="1200">
                <a:solidFill>
                  <a:srgbClr val="AD8555"/>
                </a:solidFill>
              </a:rPr>
              <a:t>  IF(Tickets = 1, 'Solo Booking', 'Group Booking') AS Booking_Type,</a:t>
            </a:r>
            <a:endParaRPr lang="en-US" altLang="en-US" sz="1200">
              <a:solidFill>
                <a:srgbClr val="AD8555"/>
              </a:solidFill>
            </a:endParaRPr>
          </a:p>
          <a:p>
            <a:r>
              <a:rPr lang="en-US" altLang="en-US" sz="1200">
                <a:solidFill>
                  <a:srgbClr val="AD8555"/>
                </a:solidFill>
              </a:rPr>
              <a:t>  COUNT(*) AS Total_Bookings,</a:t>
            </a:r>
            <a:endParaRPr lang="en-US" altLang="en-US" sz="1200">
              <a:solidFill>
                <a:srgbClr val="AD8555"/>
              </a:solidFill>
            </a:endParaRPr>
          </a:p>
          <a:p>
            <a:r>
              <a:rPr lang="en-US" altLang="en-US" sz="1200">
                <a:solidFill>
                  <a:srgbClr val="AD8555"/>
                </a:solidFill>
              </a:rPr>
              <a:t>  AVG(Tickets) AS Avg_Tickets</a:t>
            </a:r>
            <a:endParaRPr lang="en-US" altLang="en-US" sz="1200">
              <a:solidFill>
                <a:srgbClr val="AD8555"/>
              </a:solidFill>
            </a:endParaRPr>
          </a:p>
          <a:p>
            <a:r>
              <a:rPr lang="en-US" altLang="en-US" sz="1200">
                <a:solidFill>
                  <a:srgbClr val="AD8555"/>
                </a:solidFill>
              </a:rPr>
              <a:t>FROM Bookings</a:t>
            </a:r>
            <a:endParaRPr lang="en-US" altLang="en-US" sz="1200">
              <a:solidFill>
                <a:srgbClr val="AD8555"/>
              </a:solidFill>
            </a:endParaRPr>
          </a:p>
          <a:p>
            <a:r>
              <a:rPr lang="en-US" altLang="en-US" sz="1200">
                <a:solidFill>
                  <a:srgbClr val="AD8555"/>
                </a:solidFill>
              </a:rPr>
              <a:t>GROUP BY Booking_Type;</a:t>
            </a:r>
            <a:endParaRPr lang="en-US" altLang="en-US" sz="1200">
              <a:solidFill>
                <a:srgbClr val="AD8555"/>
              </a:solidFill>
            </a:endParaRPr>
          </a:p>
          <a:p>
            <a:endParaRPr lang="en-US" altLang="en-US" sz="1200">
              <a:solidFill>
                <a:srgbClr val="AD8555"/>
              </a:solidFill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314325" y="2904490"/>
            <a:ext cx="1950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b="1">
                <a:solidFill>
                  <a:srgbClr val="AD8555"/>
                </a:solidFill>
                <a:sym typeface="+mn-ea"/>
              </a:rPr>
              <a:t>Explanation</a:t>
            </a:r>
            <a:endParaRPr 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314325" y="4092575"/>
            <a:ext cx="1655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b="1">
                <a:solidFill>
                  <a:srgbClr val="AD8555"/>
                </a:solidFill>
                <a:sym typeface="+mn-ea"/>
              </a:rPr>
              <a:t>Insight</a:t>
            </a:r>
            <a:endParaRPr 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5730875" y="942340"/>
            <a:ext cx="1727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b="1">
                <a:solidFill>
                  <a:srgbClr val="AD8555"/>
                </a:solidFill>
                <a:sym typeface="+mn-ea"/>
              </a:rPr>
              <a:t>Output</a:t>
            </a:r>
            <a:endParaRPr 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252095" y="3343910"/>
            <a:ext cx="4771390" cy="775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1400" i="1">
                <a:solidFill>
                  <a:srgbClr val="AD8555"/>
                </a:solidFill>
                <a:sym typeface="+mn-ea"/>
              </a:rPr>
              <a:t>Calculates average number of tickets per booking.</a:t>
            </a:r>
            <a:endParaRPr lang="en-US" altLang="en-US" sz="14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en-US" sz="14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400" i="1">
                <a:solidFill>
                  <a:srgbClr val="AD8555"/>
                </a:solidFill>
                <a:sym typeface="+mn-ea"/>
              </a:rPr>
              <a:t>Indicates group vs solo booking behavior.</a:t>
            </a:r>
            <a:endParaRPr lang="en-US" altLang="en-US" sz="1400" i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25755" y="4460875"/>
            <a:ext cx="48780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400">
                <a:solidFill>
                  <a:srgbClr val="AD8555"/>
                </a:solidFill>
              </a:rPr>
              <a:t>Indicates whether customers prefer group or solo bookings.</a:t>
            </a:r>
            <a:endParaRPr lang="en-US" altLang="en-US" sz="1400">
              <a:solidFill>
                <a:srgbClr val="AD8555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2155" y="1991360"/>
            <a:ext cx="3057525" cy="7334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25755" y="288290"/>
            <a:ext cx="2022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rgbClr val="AD8555"/>
                </a:solidFill>
              </a:rPr>
              <a:t>QUERY-7</a:t>
            </a:r>
            <a:endParaRPr lang="en-US" b="1">
              <a:solidFill>
                <a:srgbClr val="AD8555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203190" y="793750"/>
            <a:ext cx="189865" cy="3812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cxnSp>
        <p:nvCxnSpPr>
          <p:cNvPr id="6" name="Straight Connector 5"/>
          <p:cNvCxnSpPr>
            <a:stCxn id="5" idx="0"/>
            <a:endCxn id="5" idx="2"/>
          </p:cNvCxnSpPr>
          <p:nvPr/>
        </p:nvCxnSpPr>
        <p:spPr>
          <a:xfrm>
            <a:off x="5298440" y="793750"/>
            <a:ext cx="0" cy="38125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Text Box 6"/>
          <p:cNvSpPr txBox="1"/>
          <p:nvPr/>
        </p:nvSpPr>
        <p:spPr>
          <a:xfrm>
            <a:off x="325755" y="793750"/>
            <a:ext cx="4624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en-US" b="1">
                <a:solidFill>
                  <a:srgbClr val="AD8555"/>
                </a:solidFill>
                <a:sym typeface="+mn-ea"/>
              </a:rPr>
              <a:t>Popular Show Timings</a:t>
            </a:r>
            <a:endParaRPr lang="en-US" alt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14325" y="1275715"/>
            <a:ext cx="4572000" cy="14376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1200">
                <a:solidFill>
                  <a:srgbClr val="AD8555"/>
                </a:solidFill>
              </a:rPr>
              <a:t>SELECT s.ShowTime, COUNT(b.BookingID) AS Total_Bookings</a:t>
            </a:r>
            <a:endParaRPr lang="en-US" altLang="en-US" sz="1200">
              <a:solidFill>
                <a:srgbClr val="AD8555"/>
              </a:solidFill>
            </a:endParaRPr>
          </a:p>
          <a:p>
            <a:r>
              <a:rPr lang="en-US" altLang="en-US" sz="1200">
                <a:solidFill>
                  <a:srgbClr val="AD8555"/>
                </a:solidFill>
              </a:rPr>
              <a:t>FROM Shows s</a:t>
            </a:r>
            <a:endParaRPr lang="en-US" altLang="en-US" sz="1200">
              <a:solidFill>
                <a:srgbClr val="AD8555"/>
              </a:solidFill>
            </a:endParaRPr>
          </a:p>
          <a:p>
            <a:r>
              <a:rPr lang="en-US" altLang="en-US" sz="1200">
                <a:solidFill>
                  <a:srgbClr val="AD8555"/>
                </a:solidFill>
              </a:rPr>
              <a:t>JOIN Bookings b ON s.ShowID = b.ShowID</a:t>
            </a:r>
            <a:endParaRPr lang="en-US" altLang="en-US" sz="1200">
              <a:solidFill>
                <a:srgbClr val="AD8555"/>
              </a:solidFill>
            </a:endParaRPr>
          </a:p>
          <a:p>
            <a:r>
              <a:rPr lang="en-US" altLang="en-US" sz="1200">
                <a:solidFill>
                  <a:srgbClr val="AD8555"/>
                </a:solidFill>
              </a:rPr>
              <a:t>GROUP BY s.ShowTime</a:t>
            </a:r>
            <a:endParaRPr lang="en-US" altLang="en-US" sz="1200">
              <a:solidFill>
                <a:srgbClr val="AD8555"/>
              </a:solidFill>
            </a:endParaRPr>
          </a:p>
          <a:p>
            <a:r>
              <a:rPr lang="en-US" altLang="en-US" sz="1200">
                <a:solidFill>
                  <a:srgbClr val="AD8555"/>
                </a:solidFill>
              </a:rPr>
              <a:t>ORDER BY Total_Bookings DESC;</a:t>
            </a:r>
            <a:endParaRPr lang="en-US" altLang="en-US" sz="1200">
              <a:solidFill>
                <a:srgbClr val="AD8555"/>
              </a:solidFill>
            </a:endParaRPr>
          </a:p>
          <a:p>
            <a:endParaRPr lang="en-US" altLang="en-US" sz="1200">
              <a:solidFill>
                <a:srgbClr val="AD8555"/>
              </a:solidFill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325755" y="2484755"/>
            <a:ext cx="1950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b="1">
                <a:solidFill>
                  <a:srgbClr val="AD8555"/>
                </a:solidFill>
                <a:sym typeface="+mn-ea"/>
              </a:rPr>
              <a:t>Explanation</a:t>
            </a:r>
            <a:endParaRPr 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314325" y="3917950"/>
            <a:ext cx="1655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b="1">
                <a:solidFill>
                  <a:srgbClr val="AD8555"/>
                </a:solidFill>
                <a:sym typeface="+mn-ea"/>
              </a:rPr>
              <a:t>Insight</a:t>
            </a:r>
            <a:endParaRPr 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5730875" y="930910"/>
            <a:ext cx="1727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b="1">
                <a:solidFill>
                  <a:srgbClr val="AD8555"/>
                </a:solidFill>
                <a:sym typeface="+mn-ea"/>
              </a:rPr>
              <a:t>Output</a:t>
            </a:r>
            <a:endParaRPr 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252095" y="3030855"/>
            <a:ext cx="4771390" cy="887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1400" i="1">
                <a:solidFill>
                  <a:srgbClr val="AD8555"/>
                </a:solidFill>
                <a:sym typeface="+mn-ea"/>
              </a:rPr>
              <a:t>Finds the most preferred show timings.</a:t>
            </a:r>
            <a:endParaRPr lang="en-US" altLang="en-US" sz="14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en-US" sz="14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400" i="1">
                <a:solidFill>
                  <a:srgbClr val="AD8555"/>
                </a:solidFill>
                <a:sym typeface="+mn-ea"/>
              </a:rPr>
              <a:t>Evening shows usually dominate bookings.</a:t>
            </a:r>
            <a:endParaRPr lang="en-US" altLang="en-US" sz="1400" i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14325" y="4286250"/>
            <a:ext cx="48780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400">
                <a:solidFill>
                  <a:srgbClr val="AD8555"/>
                </a:solidFill>
              </a:rPr>
              <a:t>Highlights the most preferred show timings among customers.</a:t>
            </a:r>
            <a:endParaRPr lang="en-US" altLang="en-US" sz="1400">
              <a:solidFill>
                <a:srgbClr val="AD8555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7895" y="1805305"/>
            <a:ext cx="1771650" cy="10477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25755" y="288290"/>
            <a:ext cx="2022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rgbClr val="AD8555"/>
                </a:solidFill>
              </a:rPr>
              <a:t>QUERY-8</a:t>
            </a:r>
            <a:endParaRPr lang="en-US" b="1">
              <a:solidFill>
                <a:srgbClr val="AD8555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203190" y="793750"/>
            <a:ext cx="189865" cy="3812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cxnSp>
        <p:nvCxnSpPr>
          <p:cNvPr id="6" name="Straight Connector 5"/>
          <p:cNvCxnSpPr>
            <a:stCxn id="5" idx="0"/>
            <a:endCxn id="5" idx="2"/>
          </p:cNvCxnSpPr>
          <p:nvPr/>
        </p:nvCxnSpPr>
        <p:spPr>
          <a:xfrm>
            <a:off x="5298440" y="793750"/>
            <a:ext cx="0" cy="38125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Text Box 6"/>
          <p:cNvSpPr txBox="1"/>
          <p:nvPr/>
        </p:nvSpPr>
        <p:spPr>
          <a:xfrm>
            <a:off x="325755" y="793750"/>
            <a:ext cx="4624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en-US" b="1">
                <a:solidFill>
                  <a:srgbClr val="AD8555"/>
                </a:solidFill>
                <a:sym typeface="+mn-ea"/>
              </a:rPr>
              <a:t>Theater-wise Revenue</a:t>
            </a:r>
            <a:endParaRPr lang="en-US" alt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14325" y="1275715"/>
            <a:ext cx="4572000" cy="9201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1200">
                <a:solidFill>
                  <a:srgbClr val="AD8555"/>
                </a:solidFill>
              </a:rPr>
              <a:t>SELECT s.Theater, SUM(b.Amount) AS Revenue</a:t>
            </a:r>
            <a:endParaRPr lang="en-US" altLang="en-US" sz="1200">
              <a:solidFill>
                <a:srgbClr val="AD8555"/>
              </a:solidFill>
            </a:endParaRPr>
          </a:p>
          <a:p>
            <a:r>
              <a:rPr lang="en-US" altLang="en-US" sz="1200">
                <a:solidFill>
                  <a:srgbClr val="AD8555"/>
                </a:solidFill>
              </a:rPr>
              <a:t>FROM Shows s</a:t>
            </a:r>
            <a:endParaRPr lang="en-US" altLang="en-US" sz="1200">
              <a:solidFill>
                <a:srgbClr val="AD8555"/>
              </a:solidFill>
            </a:endParaRPr>
          </a:p>
          <a:p>
            <a:r>
              <a:rPr lang="en-US" altLang="en-US" sz="1200">
                <a:solidFill>
                  <a:srgbClr val="AD8555"/>
                </a:solidFill>
              </a:rPr>
              <a:t>JOIN Bookings b ON s.ShowID = b.ShowID</a:t>
            </a:r>
            <a:endParaRPr lang="en-US" altLang="en-US" sz="1200">
              <a:solidFill>
                <a:srgbClr val="AD8555"/>
              </a:solidFill>
            </a:endParaRPr>
          </a:p>
          <a:p>
            <a:r>
              <a:rPr lang="en-US" altLang="en-US" sz="1200">
                <a:solidFill>
                  <a:srgbClr val="AD8555"/>
                </a:solidFill>
              </a:rPr>
              <a:t>GROUP BY s.Theater;</a:t>
            </a:r>
            <a:endParaRPr lang="en-US" altLang="en-US" sz="1200">
              <a:solidFill>
                <a:srgbClr val="AD8555"/>
              </a:solidFill>
            </a:endParaRPr>
          </a:p>
          <a:p>
            <a:endParaRPr lang="en-US" altLang="en-US" sz="1200">
              <a:solidFill>
                <a:srgbClr val="AD8555"/>
              </a:solidFill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314325" y="2294255"/>
            <a:ext cx="1950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b="1">
                <a:solidFill>
                  <a:srgbClr val="AD8555"/>
                </a:solidFill>
                <a:sym typeface="+mn-ea"/>
              </a:rPr>
              <a:t>Explanation</a:t>
            </a:r>
            <a:endParaRPr 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314325" y="3750945"/>
            <a:ext cx="1655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b="1">
                <a:solidFill>
                  <a:srgbClr val="AD8555"/>
                </a:solidFill>
                <a:sym typeface="+mn-ea"/>
              </a:rPr>
              <a:t>Insight</a:t>
            </a:r>
            <a:endParaRPr 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5730875" y="930910"/>
            <a:ext cx="1727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b="1">
                <a:solidFill>
                  <a:srgbClr val="AD8555"/>
                </a:solidFill>
                <a:sym typeface="+mn-ea"/>
              </a:rPr>
              <a:t>Output</a:t>
            </a:r>
            <a:endParaRPr 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314325" y="2853055"/>
            <a:ext cx="4771390" cy="887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1400" i="1">
                <a:solidFill>
                  <a:srgbClr val="AD8555"/>
                </a:solidFill>
                <a:sym typeface="+mn-ea"/>
              </a:rPr>
              <a:t>Evaluates revenue performance of each theater.</a:t>
            </a:r>
            <a:endParaRPr lang="en-US" altLang="en-US" sz="14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en-US" sz="14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400" i="1">
                <a:solidFill>
                  <a:srgbClr val="AD8555"/>
                </a:solidFill>
                <a:sym typeface="+mn-ea"/>
              </a:rPr>
              <a:t>Identifies top-performing theaters.</a:t>
            </a:r>
            <a:endParaRPr lang="en-US" altLang="en-US" sz="1400" i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14325" y="4286250"/>
            <a:ext cx="48780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400">
                <a:solidFill>
                  <a:srgbClr val="AD8555"/>
                </a:solidFill>
              </a:rPr>
              <a:t>Identifies top-performing theaters based on revenue contribution.</a:t>
            </a:r>
            <a:endParaRPr lang="en-US" altLang="en-US" sz="1400">
              <a:solidFill>
                <a:srgbClr val="AD8555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6610" y="1453515"/>
            <a:ext cx="1933575" cy="31527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97180" y="253365"/>
            <a:ext cx="2022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rgbClr val="AD8555"/>
                </a:solidFill>
              </a:rPr>
              <a:t>QUERY-9</a:t>
            </a:r>
            <a:endParaRPr lang="en-US" b="1">
              <a:solidFill>
                <a:srgbClr val="AD8555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203190" y="805180"/>
            <a:ext cx="189865" cy="3812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cxnSp>
        <p:nvCxnSpPr>
          <p:cNvPr id="6" name="Straight Connector 5"/>
          <p:cNvCxnSpPr>
            <a:stCxn id="5" idx="0"/>
            <a:endCxn id="5" idx="2"/>
          </p:cNvCxnSpPr>
          <p:nvPr/>
        </p:nvCxnSpPr>
        <p:spPr>
          <a:xfrm>
            <a:off x="5298440" y="805180"/>
            <a:ext cx="0" cy="38125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Text Box 6"/>
          <p:cNvSpPr txBox="1"/>
          <p:nvPr/>
        </p:nvSpPr>
        <p:spPr>
          <a:xfrm>
            <a:off x="294005" y="805180"/>
            <a:ext cx="3486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en-US" b="1">
                <a:solidFill>
                  <a:srgbClr val="AD8555"/>
                </a:solidFill>
                <a:sym typeface="+mn-ea"/>
              </a:rPr>
              <a:t>Daily Revenue Trend</a:t>
            </a:r>
            <a:endParaRPr lang="en-US" alt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294005" y="1310640"/>
            <a:ext cx="4572000" cy="10579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1400">
                <a:solidFill>
                  <a:srgbClr val="AD8555"/>
                </a:solidFill>
              </a:rPr>
              <a:t>SELECT BookingDate, SUM(Amount) AS Daily_Revenue</a:t>
            </a:r>
            <a:endParaRPr lang="en-US" altLang="en-US" sz="1400">
              <a:solidFill>
                <a:srgbClr val="AD8555"/>
              </a:solidFill>
            </a:endParaRPr>
          </a:p>
          <a:p>
            <a:r>
              <a:rPr lang="en-US" altLang="en-US" sz="1400">
                <a:solidFill>
                  <a:srgbClr val="AD8555"/>
                </a:solidFill>
              </a:rPr>
              <a:t>FROM Bookings</a:t>
            </a:r>
            <a:endParaRPr lang="en-US" altLang="en-US" sz="1400">
              <a:solidFill>
                <a:srgbClr val="AD8555"/>
              </a:solidFill>
            </a:endParaRPr>
          </a:p>
          <a:p>
            <a:r>
              <a:rPr lang="en-US" altLang="en-US" sz="1400">
                <a:solidFill>
                  <a:srgbClr val="AD8555"/>
                </a:solidFill>
              </a:rPr>
              <a:t>GROUP BY BookingDate;</a:t>
            </a:r>
            <a:endParaRPr lang="en-US" altLang="en-US" sz="1400">
              <a:solidFill>
                <a:srgbClr val="AD8555"/>
              </a:solidFill>
            </a:endParaRPr>
          </a:p>
          <a:p>
            <a:endParaRPr lang="en-US" altLang="en-US" sz="1400">
              <a:solidFill>
                <a:srgbClr val="AD8555"/>
              </a:solidFill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297180" y="2368550"/>
            <a:ext cx="1950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b="1">
                <a:solidFill>
                  <a:srgbClr val="AD8555"/>
                </a:solidFill>
                <a:sym typeface="+mn-ea"/>
              </a:rPr>
              <a:t>Explanation</a:t>
            </a:r>
            <a:endParaRPr 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294005" y="3558540"/>
            <a:ext cx="1655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b="1">
                <a:solidFill>
                  <a:srgbClr val="AD8555"/>
                </a:solidFill>
                <a:sym typeface="+mn-ea"/>
              </a:rPr>
              <a:t>Insight</a:t>
            </a:r>
            <a:endParaRPr 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5730240" y="621665"/>
            <a:ext cx="1727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b="1">
                <a:solidFill>
                  <a:srgbClr val="AD8555"/>
                </a:solidFill>
                <a:sym typeface="+mn-ea"/>
              </a:rPr>
              <a:t>Output</a:t>
            </a:r>
            <a:endParaRPr 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294005" y="2865120"/>
            <a:ext cx="4453255" cy="828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1200" i="1">
                <a:solidFill>
                  <a:srgbClr val="AD8555"/>
                </a:solidFill>
                <a:sym typeface="+mn-ea"/>
              </a:rPr>
              <a:t>Calculates total revenue generated on each booking date.</a:t>
            </a:r>
            <a:endParaRPr lang="en-US" altLang="en-US" sz="12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en-US" sz="12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200" i="1">
                <a:solidFill>
                  <a:srgbClr val="AD8555"/>
                </a:solidFill>
                <a:sym typeface="+mn-ea"/>
              </a:rPr>
              <a:t>Helps understand daily fluctuations in ticket sales.</a:t>
            </a:r>
            <a:endParaRPr lang="en-US" altLang="en-US" sz="1200" i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94005" y="3983355"/>
            <a:ext cx="4878070" cy="513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200">
                <a:solidFill>
                  <a:srgbClr val="AD8555"/>
                </a:solidFill>
              </a:rPr>
              <a:t>Peak revenue days indicate high customer demand or popular movie releases.</a:t>
            </a:r>
            <a:endParaRPr lang="en-US" altLang="en-US" sz="1200">
              <a:solidFill>
                <a:srgbClr val="AD8555"/>
              </a:solidFill>
            </a:endParaRPr>
          </a:p>
          <a:p>
            <a:endParaRPr lang="en-US" altLang="en-US" sz="1200">
              <a:solidFill>
                <a:srgbClr val="AD8555"/>
              </a:solidFill>
            </a:endParaRPr>
          </a:p>
          <a:p>
            <a:r>
              <a:rPr lang="en-US" altLang="en-US" sz="1200">
                <a:solidFill>
                  <a:srgbClr val="AD8555"/>
                </a:solidFill>
              </a:rPr>
              <a:t>Low-revenue days highlight opportunities for promotions or discounts.</a:t>
            </a:r>
            <a:endParaRPr lang="en-US" altLang="en-US" sz="1200">
              <a:solidFill>
                <a:srgbClr val="AD8555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5505" y="1173480"/>
            <a:ext cx="2219325" cy="36372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25755" y="288290"/>
            <a:ext cx="2022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rgbClr val="AD8555"/>
                </a:solidFill>
              </a:rPr>
              <a:t>QUERY-10</a:t>
            </a:r>
            <a:endParaRPr lang="en-US" b="1">
              <a:solidFill>
                <a:srgbClr val="AD8555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203190" y="793750"/>
            <a:ext cx="189865" cy="3812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cxnSp>
        <p:nvCxnSpPr>
          <p:cNvPr id="6" name="Straight Connector 5"/>
          <p:cNvCxnSpPr>
            <a:stCxn id="5" idx="0"/>
            <a:endCxn id="5" idx="2"/>
          </p:cNvCxnSpPr>
          <p:nvPr/>
        </p:nvCxnSpPr>
        <p:spPr>
          <a:xfrm>
            <a:off x="5298440" y="793750"/>
            <a:ext cx="0" cy="38125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Text Box 6"/>
          <p:cNvSpPr txBox="1"/>
          <p:nvPr/>
        </p:nvSpPr>
        <p:spPr>
          <a:xfrm>
            <a:off x="325755" y="781685"/>
            <a:ext cx="4624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en-US" b="1">
                <a:solidFill>
                  <a:srgbClr val="AD8555"/>
                </a:solidFill>
                <a:sym typeface="+mn-ea"/>
              </a:rPr>
              <a:t>Theater with Highest Ticket Sales</a:t>
            </a:r>
            <a:endParaRPr lang="en-US" alt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14325" y="1275715"/>
            <a:ext cx="4572000" cy="1086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1200">
                <a:solidFill>
                  <a:srgbClr val="AD8555"/>
                </a:solidFill>
              </a:rPr>
              <a:t>SELECT s.Theater, SUM(b.Tickets) AS Tickets_Sold</a:t>
            </a:r>
            <a:endParaRPr lang="en-US" altLang="en-US" sz="1200">
              <a:solidFill>
                <a:srgbClr val="AD8555"/>
              </a:solidFill>
            </a:endParaRPr>
          </a:p>
          <a:p>
            <a:r>
              <a:rPr lang="en-US" altLang="en-US" sz="1200">
                <a:solidFill>
                  <a:srgbClr val="AD8555"/>
                </a:solidFill>
              </a:rPr>
              <a:t>FROM Shows s</a:t>
            </a:r>
            <a:endParaRPr lang="en-US" altLang="en-US" sz="1200">
              <a:solidFill>
                <a:srgbClr val="AD8555"/>
              </a:solidFill>
            </a:endParaRPr>
          </a:p>
          <a:p>
            <a:r>
              <a:rPr lang="en-US" altLang="en-US" sz="1200">
                <a:solidFill>
                  <a:srgbClr val="AD8555"/>
                </a:solidFill>
              </a:rPr>
              <a:t>JOIN Bookings b ON s.ShowID = b.ShowID</a:t>
            </a:r>
            <a:endParaRPr lang="en-US" altLang="en-US" sz="1200">
              <a:solidFill>
                <a:srgbClr val="AD8555"/>
              </a:solidFill>
            </a:endParaRPr>
          </a:p>
          <a:p>
            <a:r>
              <a:rPr lang="en-US" altLang="en-US" sz="1200">
                <a:solidFill>
                  <a:srgbClr val="AD8555"/>
                </a:solidFill>
              </a:rPr>
              <a:t>GROUP BY s.Theater</a:t>
            </a:r>
            <a:endParaRPr lang="en-US" altLang="en-US" sz="1200">
              <a:solidFill>
                <a:srgbClr val="AD8555"/>
              </a:solidFill>
            </a:endParaRPr>
          </a:p>
          <a:p>
            <a:r>
              <a:rPr lang="en-US" altLang="en-US" sz="1200">
                <a:solidFill>
                  <a:srgbClr val="AD8555"/>
                </a:solidFill>
              </a:rPr>
              <a:t>ORDER BY Tickets_Sold DESC;</a:t>
            </a:r>
            <a:endParaRPr lang="en-US" altLang="en-US" sz="1200">
              <a:solidFill>
                <a:srgbClr val="AD8555"/>
              </a:solidFill>
            </a:endParaRPr>
          </a:p>
          <a:p>
            <a:endParaRPr lang="en-US" altLang="en-US" sz="1200">
              <a:solidFill>
                <a:srgbClr val="AD8555"/>
              </a:solidFill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314325" y="2294255"/>
            <a:ext cx="1950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b="1">
                <a:solidFill>
                  <a:srgbClr val="AD8555"/>
                </a:solidFill>
                <a:sym typeface="+mn-ea"/>
              </a:rPr>
              <a:t>Explanation</a:t>
            </a:r>
            <a:endParaRPr 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325755" y="3854450"/>
            <a:ext cx="1655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b="1">
                <a:solidFill>
                  <a:srgbClr val="AD8555"/>
                </a:solidFill>
                <a:sym typeface="+mn-ea"/>
              </a:rPr>
              <a:t>Insight</a:t>
            </a:r>
            <a:endParaRPr 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5730875" y="930910"/>
            <a:ext cx="1727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b="1">
                <a:solidFill>
                  <a:srgbClr val="AD8555"/>
                </a:solidFill>
                <a:sym typeface="+mn-ea"/>
              </a:rPr>
              <a:t>Output</a:t>
            </a:r>
            <a:endParaRPr lang="en-US" b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314325" y="2853055"/>
            <a:ext cx="4771390" cy="887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1200" i="1">
                <a:solidFill>
                  <a:srgbClr val="AD8555"/>
                </a:solidFill>
                <a:sym typeface="+mn-ea"/>
              </a:rPr>
              <a:t>Identifies the theater that sold the maximum number of tickets across all shows.</a:t>
            </a:r>
            <a:endParaRPr lang="en-US" altLang="en-US" sz="12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en-US" sz="1200" i="1">
              <a:solidFill>
                <a:srgbClr val="AD8555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200" i="1">
                <a:solidFill>
                  <a:srgbClr val="AD8555"/>
                </a:solidFill>
                <a:sym typeface="+mn-ea"/>
              </a:rPr>
              <a:t>Helps evaluate theater performance based on customer footfall and demand.</a:t>
            </a:r>
            <a:endParaRPr lang="en-US" altLang="en-US" sz="1200" i="1">
              <a:solidFill>
                <a:srgbClr val="AD8555"/>
              </a:solidFill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25755" y="4337050"/>
            <a:ext cx="48780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400">
                <a:solidFill>
                  <a:srgbClr val="AD8555"/>
                </a:solidFill>
              </a:rPr>
              <a:t>Highlights theaters with the highest customer footfall.</a:t>
            </a:r>
            <a:endParaRPr lang="en-US" altLang="en-US" sz="1400">
              <a:solidFill>
                <a:srgbClr val="AD8555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9480" y="1405255"/>
            <a:ext cx="2095500" cy="30956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65760" y="250825"/>
            <a:ext cx="3485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rgbClr val="AD8555"/>
                </a:solidFill>
              </a:rPr>
              <a:t>Compartive Analysis</a:t>
            </a:r>
            <a:endParaRPr lang="en-US">
              <a:solidFill>
                <a:srgbClr val="AD8555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65760" y="619125"/>
            <a:ext cx="827786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en-US" sz="1200" b="1">
              <a:solidFill>
                <a:srgbClr val="AD8555"/>
              </a:solidFill>
            </a:endParaRPr>
          </a:p>
          <a:p>
            <a:r>
              <a:rPr lang="en-US" altLang="en-US" sz="1200" b="1">
                <a:solidFill>
                  <a:srgbClr val="AD8555"/>
                </a:solidFill>
              </a:rPr>
              <a:t>1 Movie Performance</a:t>
            </a:r>
            <a:endParaRPr lang="en-US" altLang="en-US" sz="1200" b="1">
              <a:solidFill>
                <a:srgbClr val="AD8555"/>
              </a:solidFill>
            </a:endParaRPr>
          </a:p>
          <a:p>
            <a:endParaRPr lang="en-US" altLang="en-US" sz="1200" b="1">
              <a:solidFill>
                <a:srgbClr val="AD8555"/>
              </a:solidFill>
            </a:endParaRPr>
          </a:p>
          <a:p>
            <a:pPr marL="171450" indent="-171450">
              <a:buFont typeface="Wingdings" panose="05000000000000000000" charset="0"/>
              <a:buChar char="§"/>
            </a:pPr>
            <a:r>
              <a:rPr lang="en-US" altLang="en-US" sz="1200" i="1">
                <a:solidFill>
                  <a:srgbClr val="AD8555"/>
                </a:solidFill>
              </a:rPr>
              <a:t>Blockbuster and action movies generate the highest bookings and revenue.</a:t>
            </a:r>
            <a:endParaRPr lang="en-US" altLang="en-US" sz="1200" i="1">
              <a:solidFill>
                <a:srgbClr val="AD8555"/>
              </a:solidFill>
            </a:endParaRPr>
          </a:p>
          <a:p>
            <a:pPr marL="171450" indent="-171450">
              <a:buFont typeface="Wingdings" panose="05000000000000000000" charset="0"/>
              <a:buChar char="§"/>
            </a:pPr>
            <a:r>
              <a:rPr lang="en-US" altLang="en-US" sz="1200" i="1">
                <a:solidFill>
                  <a:srgbClr val="AD8555"/>
                </a:solidFill>
              </a:rPr>
              <a:t>Low-demand movies have fewer bookings, needing promotion or fewer shows.</a:t>
            </a:r>
            <a:endParaRPr lang="en-US" altLang="en-US" sz="1200" i="1">
              <a:solidFill>
                <a:srgbClr val="AD8555"/>
              </a:solidFill>
            </a:endParaRPr>
          </a:p>
          <a:p>
            <a:pPr indent="0">
              <a:buFont typeface="Wingdings" panose="05000000000000000000" charset="0"/>
              <a:buNone/>
            </a:pPr>
            <a:endParaRPr lang="en-US" altLang="en-US" sz="1200" b="1">
              <a:solidFill>
                <a:srgbClr val="AD8555"/>
              </a:solidFill>
            </a:endParaRPr>
          </a:p>
          <a:p>
            <a:r>
              <a:rPr lang="en-US" altLang="en-US" sz="1200" b="1">
                <a:solidFill>
                  <a:srgbClr val="AD8555"/>
                </a:solidFill>
              </a:rPr>
              <a:t>2 City-wise Revenue</a:t>
            </a:r>
            <a:endParaRPr lang="en-US" altLang="en-US" sz="1200" b="1">
              <a:solidFill>
                <a:srgbClr val="AD8555"/>
              </a:solidFill>
            </a:endParaRPr>
          </a:p>
          <a:p>
            <a:endParaRPr lang="en-US" altLang="en-US" sz="1200" b="1">
              <a:solidFill>
                <a:srgbClr val="AD8555"/>
              </a:solidFill>
            </a:endParaRPr>
          </a:p>
          <a:p>
            <a:pPr marL="171450" indent="-171450">
              <a:buFont typeface="Wingdings" panose="05000000000000000000" charset="0"/>
              <a:buChar char="§"/>
            </a:pPr>
            <a:r>
              <a:rPr lang="en-US" altLang="en-US" sz="1200" i="1">
                <a:solidFill>
                  <a:srgbClr val="AD8555"/>
                </a:solidFill>
              </a:rPr>
              <a:t>Metro cities (Chennai,Delhi, Bangalore) contribute most revenue.</a:t>
            </a:r>
            <a:endParaRPr lang="en-US" altLang="en-US" sz="1200" i="1">
              <a:solidFill>
                <a:srgbClr val="AD8555"/>
              </a:solidFill>
            </a:endParaRPr>
          </a:p>
          <a:p>
            <a:pPr marL="171450" indent="-171450">
              <a:buFont typeface="Wingdings" panose="05000000000000000000" charset="0"/>
              <a:buChar char="§"/>
            </a:pPr>
            <a:r>
              <a:rPr lang="en-US" altLang="en-US" sz="1200" i="1">
                <a:solidFill>
                  <a:srgbClr val="AD8555"/>
                </a:solidFill>
              </a:rPr>
              <a:t>Non-metro cities have lower bookings but growth potential with targeted campaigns.</a:t>
            </a:r>
            <a:endParaRPr lang="en-US" altLang="en-US" sz="1200" i="1">
              <a:solidFill>
                <a:srgbClr val="AD8555"/>
              </a:solidFill>
            </a:endParaRPr>
          </a:p>
          <a:p>
            <a:endParaRPr lang="en-US" altLang="en-US" sz="1200" b="1">
              <a:solidFill>
                <a:srgbClr val="AD8555"/>
              </a:solidFill>
            </a:endParaRPr>
          </a:p>
          <a:p>
            <a:r>
              <a:rPr lang="en-US" altLang="en-US" sz="1200" b="1">
                <a:solidFill>
                  <a:srgbClr val="AD8555"/>
                </a:solidFill>
              </a:rPr>
              <a:t>3 Showtime Performance</a:t>
            </a:r>
            <a:endParaRPr lang="en-US" altLang="en-US" sz="1200" b="1">
              <a:solidFill>
                <a:srgbClr val="AD8555"/>
              </a:solidFill>
            </a:endParaRPr>
          </a:p>
          <a:p>
            <a:endParaRPr lang="en-US" altLang="en-US" sz="1200" b="1">
              <a:solidFill>
                <a:srgbClr val="AD8555"/>
              </a:solidFill>
            </a:endParaRPr>
          </a:p>
          <a:p>
            <a:pPr marL="171450" indent="-171450">
              <a:buFont typeface="Wingdings" panose="05000000000000000000" charset="0"/>
              <a:buChar char="§"/>
            </a:pPr>
            <a:r>
              <a:rPr lang="en-US" altLang="en-US" sz="1200" i="1">
                <a:solidFill>
                  <a:srgbClr val="AD8555"/>
                </a:solidFill>
              </a:rPr>
              <a:t>Evening and night shows have higher occupancy than morning or afternoon shows.</a:t>
            </a:r>
            <a:endParaRPr lang="en-US" altLang="en-US" sz="1200" i="1">
              <a:solidFill>
                <a:srgbClr val="AD8555"/>
              </a:solidFill>
            </a:endParaRPr>
          </a:p>
          <a:p>
            <a:pPr marL="171450" indent="-171450">
              <a:buFont typeface="Wingdings" panose="05000000000000000000" charset="0"/>
              <a:buChar char="§"/>
            </a:pPr>
            <a:r>
              <a:rPr lang="en-US" altLang="en-US" sz="1200" i="1">
                <a:solidFill>
                  <a:srgbClr val="AD8555"/>
                </a:solidFill>
              </a:rPr>
              <a:t>Peak-time shows are ideal for premium pricing strategies.</a:t>
            </a:r>
            <a:endParaRPr lang="en-US" altLang="en-US" sz="1200" i="1">
              <a:solidFill>
                <a:srgbClr val="AD8555"/>
              </a:solidFill>
            </a:endParaRPr>
          </a:p>
          <a:p>
            <a:endParaRPr lang="en-US" altLang="en-US" sz="1200" b="1">
              <a:solidFill>
                <a:srgbClr val="AD8555"/>
              </a:solidFill>
            </a:endParaRPr>
          </a:p>
          <a:p>
            <a:endParaRPr lang="en-US" altLang="en-US" sz="1200" b="1">
              <a:solidFill>
                <a:srgbClr val="AD8555"/>
              </a:solidFill>
            </a:endParaRPr>
          </a:p>
          <a:p>
            <a:r>
              <a:rPr lang="en-US" altLang="en-US" sz="1200" b="1">
                <a:solidFill>
                  <a:srgbClr val="AD8555"/>
                </a:solidFill>
              </a:rPr>
              <a:t>4 Theater Performance</a:t>
            </a:r>
            <a:endParaRPr lang="en-US" altLang="en-US" sz="1200" b="1">
              <a:solidFill>
                <a:srgbClr val="AD8555"/>
              </a:solidFill>
            </a:endParaRPr>
          </a:p>
          <a:p>
            <a:endParaRPr lang="en-US" altLang="en-US" sz="1200" b="1">
              <a:solidFill>
                <a:srgbClr val="AD8555"/>
              </a:solidFill>
            </a:endParaRPr>
          </a:p>
          <a:p>
            <a:pPr marL="171450" indent="-171450">
              <a:buFont typeface="Wingdings" panose="05000000000000000000" charset="0"/>
              <a:buChar char="§"/>
            </a:pPr>
            <a:r>
              <a:rPr lang="en-US" altLang="en-US" sz="1200" i="1">
                <a:solidFill>
                  <a:srgbClr val="AD8555"/>
                </a:solidFill>
              </a:rPr>
              <a:t>Certain theaters consistently generate high revenue and ticket sales.</a:t>
            </a:r>
            <a:endParaRPr lang="en-US" altLang="en-US" sz="1200" i="1">
              <a:solidFill>
                <a:srgbClr val="AD8555"/>
              </a:solidFill>
            </a:endParaRPr>
          </a:p>
          <a:p>
            <a:pPr marL="171450" indent="-171450">
              <a:buFont typeface="Wingdings" panose="05000000000000000000" charset="0"/>
              <a:buChar char="§"/>
            </a:pPr>
            <a:r>
              <a:rPr lang="en-US" altLang="en-US" sz="1200" i="1">
                <a:solidFill>
                  <a:srgbClr val="AD8555"/>
                </a:solidFill>
              </a:rPr>
              <a:t>Underperforming theaters may require better show allocation or marketing.</a:t>
            </a:r>
            <a:endParaRPr lang="en-US" altLang="en-US" sz="1200" i="1">
              <a:solidFill>
                <a:srgbClr val="AD8555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219075" y="358140"/>
            <a:ext cx="6609715" cy="4184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400" b="1">
                <a:solidFill>
                  <a:srgbClr val="AD8555"/>
                </a:solidFill>
              </a:rPr>
              <a:t>Project Summary</a:t>
            </a:r>
            <a:endParaRPr lang="en-US" altLang="en-US" sz="1400" b="1">
              <a:solidFill>
                <a:srgbClr val="AD8555"/>
              </a:solidFill>
            </a:endParaRPr>
          </a:p>
          <a:p>
            <a:endParaRPr lang="en-US" altLang="en-US" sz="1400"/>
          </a:p>
          <a:p>
            <a:r>
              <a:rPr lang="en-US" altLang="en-US" sz="1400" i="1">
                <a:solidFill>
                  <a:srgbClr val="AD8555"/>
                </a:solidFill>
              </a:rPr>
              <a:t>This project analyzes an online movie ticket booking system using MySQL.</a:t>
            </a:r>
            <a:endParaRPr lang="en-US" altLang="en-US" sz="1400" i="1">
              <a:solidFill>
                <a:srgbClr val="AD8555"/>
              </a:solidFill>
            </a:endParaRPr>
          </a:p>
          <a:p>
            <a:r>
              <a:rPr lang="en-US" altLang="en-US" sz="1400" i="1">
                <a:solidFill>
                  <a:srgbClr val="AD8555"/>
                </a:solidFill>
              </a:rPr>
              <a:t>It uses Users, Movies, Shows, and Bookings tables to study booking activity.</a:t>
            </a:r>
            <a:endParaRPr lang="en-US" altLang="en-US" sz="1400" i="1">
              <a:solidFill>
                <a:srgbClr val="AD8555"/>
              </a:solidFill>
            </a:endParaRPr>
          </a:p>
          <a:p>
            <a:r>
              <a:rPr lang="en-US" altLang="en-US" sz="1400" i="1">
                <a:solidFill>
                  <a:srgbClr val="AD8555"/>
                </a:solidFill>
              </a:rPr>
              <a:t>SQL queries are applied to extract insights on demand, occupancy, and revenue.</a:t>
            </a:r>
            <a:endParaRPr lang="en-US" altLang="en-US" sz="1400" i="1"/>
          </a:p>
          <a:p>
            <a:endParaRPr lang="en-US" altLang="en-US" sz="1400" b="1"/>
          </a:p>
          <a:p>
            <a:r>
              <a:rPr lang="en-US" altLang="en-US" sz="1400" b="1">
                <a:solidFill>
                  <a:srgbClr val="AD8555"/>
                </a:solidFill>
              </a:rPr>
              <a:t>Key Findings</a:t>
            </a:r>
            <a:endParaRPr lang="en-US" altLang="en-US" sz="1400" b="1">
              <a:solidFill>
                <a:srgbClr val="AD8555"/>
              </a:solidFill>
            </a:endParaRPr>
          </a:p>
          <a:p>
            <a:endParaRPr lang="en-US" altLang="en-US" sz="1400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1400" i="1">
                <a:solidFill>
                  <a:srgbClr val="AD8555"/>
                </a:solidFill>
              </a:rPr>
              <a:t>Blockbuster movies and metro cities generate the highest revenue.</a:t>
            </a:r>
            <a:endParaRPr lang="en-US" altLang="en-US" sz="1400" i="1">
              <a:solidFill>
                <a:srgbClr val="AD8555"/>
              </a:solidFill>
            </a:endParaRP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1400" i="1">
                <a:solidFill>
                  <a:srgbClr val="AD8555"/>
                </a:solidFill>
              </a:rPr>
              <a:t>Evening and weekend shows have higher occupancy and ticket sales.</a:t>
            </a:r>
            <a:endParaRPr lang="en-US" altLang="en-US" sz="1400" i="1">
              <a:solidFill>
                <a:srgbClr val="AD8555"/>
              </a:solidFill>
            </a:endParaRP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1400" i="1">
                <a:solidFill>
                  <a:srgbClr val="AD8555"/>
                </a:solidFill>
              </a:rPr>
              <a:t>Repeat users and group bookings contribute significantly to bookings.</a:t>
            </a:r>
            <a:endParaRPr lang="en-US" altLang="en-US" sz="1400" i="1">
              <a:solidFill>
                <a:srgbClr val="AD8555"/>
              </a:solidFill>
            </a:endParaRPr>
          </a:p>
          <a:p>
            <a:pPr marL="285750" indent="-285750">
              <a:buFont typeface="Wingdings" panose="05000000000000000000" charset="0"/>
              <a:buChar char="§"/>
            </a:pPr>
            <a:endParaRPr lang="en-US" altLang="en-US" sz="1400" i="1">
              <a:solidFill>
                <a:srgbClr val="AD8555"/>
              </a:solidFill>
            </a:endParaRPr>
          </a:p>
          <a:p>
            <a:r>
              <a:rPr lang="en-US" altLang="en-US" sz="1400" b="1">
                <a:solidFill>
                  <a:srgbClr val="AD8555"/>
                </a:solidFill>
              </a:rPr>
              <a:t>Conclusion</a:t>
            </a:r>
            <a:endParaRPr lang="en-US" altLang="en-US" sz="1400">
              <a:solidFill>
                <a:srgbClr val="AD8555"/>
              </a:solidFill>
            </a:endParaRPr>
          </a:p>
          <a:p>
            <a:endParaRPr lang="en-US" altLang="en-US" sz="1400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1400" i="1">
                <a:solidFill>
                  <a:srgbClr val="AD8555"/>
                </a:solidFill>
              </a:rPr>
              <a:t>SQL-based analysis helps identify movie demand and customer behavior.</a:t>
            </a:r>
            <a:endParaRPr lang="en-US" altLang="en-US" sz="1400" i="1">
              <a:solidFill>
                <a:srgbClr val="AD8555"/>
              </a:solidFill>
            </a:endParaRP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1400" i="1">
                <a:solidFill>
                  <a:srgbClr val="AD8555"/>
                </a:solidFill>
              </a:rPr>
              <a:t>Optimizing show timings and city-wise focus improves revenue performance.</a:t>
            </a:r>
            <a:endParaRPr lang="en-US" altLang="en-US" sz="1400" i="1">
              <a:solidFill>
                <a:srgbClr val="AD8555"/>
              </a:solidFill>
            </a:endParaRP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1400" i="1">
                <a:solidFill>
                  <a:srgbClr val="AD8555"/>
                </a:solidFill>
              </a:rPr>
              <a:t>Data-driven insights support better decision-making and business growth.</a:t>
            </a:r>
            <a:endParaRPr lang="en-US" altLang="en-US" sz="1400" i="1">
              <a:solidFill>
                <a:srgbClr val="AD8555"/>
              </a:solidFill>
            </a:endParaRPr>
          </a:p>
        </p:txBody>
      </p:sp>
      <p:pic>
        <p:nvPicPr>
          <p:cNvPr id="6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6463030" y="1320800"/>
            <a:ext cx="2419985" cy="197358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7bd07e95-e1be-49c5-9ffb-c17509c6dc48"/>
  <p:tag name="COMMONDATA" val="eyJoZGlkIjoiMmNmYmEwOWQ4Y2Q0M2IxMGZkNjI4ZjhkZDQyNzg1OTYifQ=="/>
</p:tagLst>
</file>

<file path=ppt/theme/theme1.xml><?xml version="1.0" encoding="utf-8"?>
<a:theme xmlns:a="http://schemas.openxmlformats.org/drawingml/2006/main" name="Office 主题​​">
  <a:themeElements>
    <a:clrScheme name="自定义 28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25066"/>
      </a:accent1>
      <a:accent2>
        <a:srgbClr val="44546A"/>
      </a:accent2>
      <a:accent3>
        <a:srgbClr val="D6CBC9"/>
      </a:accent3>
      <a:accent4>
        <a:srgbClr val="A59D9A"/>
      </a:accent4>
      <a:accent5>
        <a:srgbClr val="5B9BD5"/>
      </a:accent5>
      <a:accent6>
        <a:srgbClr val="70AD47"/>
      </a:accent6>
      <a:hlink>
        <a:srgbClr val="000000"/>
      </a:hlink>
      <a:folHlink>
        <a:srgbClr val="954F72"/>
      </a:folHlink>
    </a:clrScheme>
    <a:fontScheme name="Butler">
      <a:majorFont>
        <a:latin typeface="Open Sans"/>
        <a:ea typeface="汉仪大宋简"/>
        <a:cs typeface=""/>
      </a:majorFont>
      <a:minorFont>
        <a:latin typeface="Open Sans"/>
        <a:ea typeface="Open Sans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pen Sans"/>
        <a:ea typeface=""/>
        <a:cs typeface=""/>
        <a:font script="Jpan" typeface="ＭＳ Ｐゴシック"/>
        <a:font script="Hang" typeface="맑은 고딕"/>
        <a:font script="Hans" typeface="Open Sans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en Sans"/>
        <a:ea typeface=""/>
        <a:cs typeface=""/>
        <a:font script="Jpan" typeface="ＭＳ Ｐゴシック"/>
        <a:font script="Hang" typeface="맑은 고딕"/>
        <a:font script="Hans" typeface="Open Sans"/>
        <a:font script="Hant" typeface="新細明體"/>
        <a:font script="Arab" typeface="Open Sans"/>
        <a:font script="Hebr" typeface="Open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Open 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en Sans"/>
        <a:ea typeface=""/>
        <a:cs typeface=""/>
        <a:font script="Jpan" typeface="游ゴシック"/>
        <a:font script="Hang" typeface="맑은 고딕"/>
        <a:font script="Hans" typeface="Open Sans"/>
        <a:font script="Hant" typeface="新細明體"/>
        <a:font script="Arab" typeface="Open Sans"/>
        <a:font script="Hebr" typeface="Open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Open 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12000</Words>
  <Application>WPS Presentation</Application>
  <PresentationFormat>全屏显示(16:9)</PresentationFormat>
  <Paragraphs>578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Arial</vt:lpstr>
      <vt:lpstr>SimSun</vt:lpstr>
      <vt:lpstr>Wingdings</vt:lpstr>
      <vt:lpstr>Open Sans</vt:lpstr>
      <vt:lpstr>Cinzel</vt:lpstr>
      <vt:lpstr>Wingdings</vt:lpstr>
      <vt:lpstr>Microsoft YaHei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哒哒 熊猫</dc:creator>
  <cp:lastModifiedBy>Jeevankrishna123 Jeevankrishna</cp:lastModifiedBy>
  <cp:revision>693</cp:revision>
  <dcterms:created xsi:type="dcterms:W3CDTF">2019-01-15T03:31:00Z</dcterms:created>
  <dcterms:modified xsi:type="dcterms:W3CDTF">2026-01-05T14:50:29Z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1033-12.2.0.23196</vt:lpwstr>
  </property>
  <property fmtid="{D5CDD505-2E9C-101B-9397-08002B2CF9AE}" pid="3" name="ICV">
    <vt:lpwstr>C747E6B91B1545089BB367080572E175_11</vt:lpwstr>
  </property>
</Properties>
</file>